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8" r:id="rId5"/>
    <p:sldMasterId id="2147483665" r:id="rId6"/>
    <p:sldMasterId id="2147483690" r:id="rId7"/>
  </p:sldMasterIdLst>
  <p:notesMasterIdLst>
    <p:notesMasterId r:id="rId31"/>
  </p:notesMasterIdLst>
  <p:handoutMasterIdLst>
    <p:handoutMasterId r:id="rId32"/>
  </p:handoutMasterIdLst>
  <p:sldIdLst>
    <p:sldId id="321" r:id="rId8"/>
    <p:sldId id="278" r:id="rId9"/>
    <p:sldId id="358" r:id="rId10"/>
    <p:sldId id="382" r:id="rId11"/>
    <p:sldId id="383" r:id="rId12"/>
    <p:sldId id="384" r:id="rId13"/>
    <p:sldId id="386" r:id="rId14"/>
    <p:sldId id="385" r:id="rId15"/>
    <p:sldId id="387" r:id="rId16"/>
    <p:sldId id="388" r:id="rId17"/>
    <p:sldId id="389" r:id="rId18"/>
    <p:sldId id="390" r:id="rId19"/>
    <p:sldId id="391" r:id="rId20"/>
    <p:sldId id="392" r:id="rId21"/>
    <p:sldId id="396" r:id="rId22"/>
    <p:sldId id="395" r:id="rId23"/>
    <p:sldId id="397" r:id="rId24"/>
    <p:sldId id="399" r:id="rId25"/>
    <p:sldId id="400" r:id="rId26"/>
    <p:sldId id="401" r:id="rId27"/>
    <p:sldId id="393" r:id="rId28"/>
    <p:sldId id="379" r:id="rId29"/>
    <p:sldId id="3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/ Intro / Agenda" id="{075B577F-2611-4CB8-B545-166E1EFA13FE}">
          <p14:sldIdLst>
            <p14:sldId id="321"/>
            <p14:sldId id="278"/>
          </p14:sldIdLst>
        </p14:section>
        <p14:section name="How to use it" id="{E6A08D2D-FEB5-46BC-A1BE-88B7F2B5039D}">
          <p14:sldIdLst>
            <p14:sldId id="358"/>
            <p14:sldId id="382"/>
            <p14:sldId id="383"/>
          </p14:sldIdLst>
        </p14:section>
        <p14:section name="How to customize it" id="{11AF7FA9-4437-4C1E-9EE8-381BC054A545}">
          <p14:sldIdLst>
            <p14:sldId id="384"/>
            <p14:sldId id="386"/>
            <p14:sldId id="385"/>
            <p14:sldId id="387"/>
            <p14:sldId id="388"/>
            <p14:sldId id="389"/>
            <p14:sldId id="390"/>
            <p14:sldId id="391"/>
            <p14:sldId id="392"/>
          </p14:sldIdLst>
        </p14:section>
        <p14:section name="Checker" id="{D3441029-0D79-48CD-A11B-C9F0D3536265}">
          <p14:sldIdLst>
            <p14:sldId id="396"/>
            <p14:sldId id="395"/>
            <p14:sldId id="397"/>
            <p14:sldId id="399"/>
            <p14:sldId id="400"/>
          </p14:sldIdLst>
        </p14:section>
        <p14:section name="Tips" id="{4D5F4F52-F01E-422C-9BAF-C987FA9B2462}">
          <p14:sldIdLst>
            <p14:sldId id="401"/>
          </p14:sldIdLst>
        </p14:section>
        <p14:section name="Ends" id="{5E60791B-5C3E-4C96-9249-DFC9F031BF43}">
          <p14:sldIdLst>
            <p14:sldId id="393"/>
            <p14:sldId id="379"/>
            <p14:sldId id="380"/>
          </p14:sldIdLst>
        </p14:section>
      </p14:sectionLst>
    </p:ext>
    <p:ext uri="{EFAFB233-063F-42B5-8137-9DF3F51BA10A}">
      <p15:sldGuideLst xmlns:p15="http://schemas.microsoft.com/office/powerpoint/2012/main" xmlns="">
        <p15:guide id="1" pos="5040" userDrawn="1">
          <p15:clr>
            <a:srgbClr val="A4A3A4"/>
          </p15:clr>
        </p15:guide>
        <p15:guide id="3" pos="2640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5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MPION, Ludovic (ACCENTURE SAS)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FF"/>
    <a:srgbClr val="00FFBB"/>
    <a:srgbClr val="666666"/>
    <a:srgbClr val="000088"/>
    <a:srgbClr val="DDDDDD"/>
    <a:srgbClr val="00BAFF"/>
    <a:srgbClr val="207EA1"/>
    <a:srgbClr val="00FF7D"/>
    <a:srgbClr val="FF65FC"/>
    <a:srgbClr val="70E6E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03" autoAdjust="0"/>
    <p:restoredTop sz="96985" autoAdjust="0"/>
  </p:normalViewPr>
  <p:slideViewPr>
    <p:cSldViewPr snapToGrid="0">
      <p:cViewPr varScale="1">
        <p:scale>
          <a:sx n="114" d="100"/>
          <a:sy n="114" d="100"/>
        </p:scale>
        <p:origin x="-108" y="-438"/>
      </p:cViewPr>
      <p:guideLst>
        <p:guide orient="horz" pos="2160"/>
        <p:guide orient="horz" pos="504"/>
        <p:guide pos="5040"/>
        <p:guide pos="2640"/>
      </p:guideLst>
    </p:cSldViewPr>
  </p:slideViewPr>
  <p:outlineViewPr>
    <p:cViewPr>
      <p:scale>
        <a:sx n="33" d="100"/>
        <a:sy n="33" d="100"/>
      </p:scale>
      <p:origin x="0" y="1513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2574" y="1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42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/>
              <a:t>4/6/2018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D084F-DC83-4EB0-8CED-52E9AA3ECA1C}" type="datetimeFigureOut">
              <a:rPr lang="en-US" smtClean="0"/>
              <a:t>4/6/2018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57E0A-F321-48DC-AF94-681D4DCF344D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93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647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aster: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953500" y="2478024"/>
            <a:ext cx="2857501" cy="3959352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3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3pPr>
            <a:lvl4pPr marL="0" marR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4pPr>
          </a:lstStyle>
          <a:p>
            <a:pPr marL="0" marR="0" lvl="0" indent="0" algn="l" defTabSz="914377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rgbClr val="004D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Presentation title HERE (L1)</a:t>
            </a:r>
          </a:p>
          <a:p>
            <a:pPr marL="0" marR="0" lvl="2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Speaker name 1 (Level 3)</a:t>
            </a:r>
          </a:p>
          <a:p>
            <a:pPr marL="0" marR="0" lvl="2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Speaker name 2 (Level 3)</a:t>
            </a:r>
          </a:p>
          <a:p>
            <a:pPr marL="0" marR="0" lvl="3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Month Day, Year (Level 4)</a:t>
            </a:r>
          </a:p>
        </p:txBody>
      </p:sp>
      <p:grpSp>
        <p:nvGrpSpPr>
          <p:cNvPr id="13" name="Acc_MasterBLACK"/>
          <p:cNvGrpSpPr>
            <a:grpSpLocks noChangeAspect="1"/>
          </p:cNvGrpSpPr>
          <p:nvPr userDrawn="1"/>
        </p:nvGrpSpPr>
        <p:grpSpPr>
          <a:xfrm>
            <a:off x="8953500" y="377724"/>
            <a:ext cx="1664208" cy="446694"/>
            <a:chOff x="9563100" y="1673029"/>
            <a:chExt cx="1389888" cy="373063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4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300" y="381000"/>
            <a:ext cx="6810518" cy="629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3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Dark">
    <p:bg>
      <p:bgPr>
        <a:solidFill>
          <a:srgbClr val="000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80999" y="2438400"/>
            <a:ext cx="2857501" cy="4267200"/>
          </a:xfrm>
        </p:spPr>
        <p:txBody>
          <a:bodyPr/>
          <a:lstStyle>
            <a:lvl1pPr marL="0" indent="0">
              <a:defRPr sz="2800" b="1">
                <a:solidFill>
                  <a:schemeClr val="accent6"/>
                </a:solidFill>
                <a:latin typeface="+mn-lt"/>
              </a:defRPr>
            </a:lvl1pPr>
            <a:lvl2pPr marL="0" indent="0">
              <a:spcAft>
                <a:spcPts val="0"/>
              </a:spcAft>
              <a:defRPr sz="220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5pPr>
            <a:lvl6pPr marL="344479" indent="-173034">
              <a:buFont typeface="Graphik" panose="020B0503030202060203" pitchFamily="34" charset="0"/>
              <a:buChar char="–"/>
              <a:defRPr sz="1600">
                <a:solidFill>
                  <a:schemeClr val="bg1"/>
                </a:solidFill>
              </a:defRPr>
            </a:lvl6pPr>
            <a:lvl7pPr marL="0" indent="0">
              <a:defRPr sz="1400" b="1">
                <a:solidFill>
                  <a:schemeClr val="bg1"/>
                </a:solidFill>
                <a:latin typeface="+mj-lt"/>
              </a:defRPr>
            </a:lvl7pPr>
            <a:lvl8pPr marL="0" indent="0">
              <a:defRPr sz="1400" baseline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800"/>
              </a:spcAft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10" name="Group 9"/>
          <p:cNvGrpSpPr>
            <a:grpSpLocks noChangeAspect="1"/>
          </p:cNvGrpSpPr>
          <p:nvPr userDrawn="1"/>
        </p:nvGrpSpPr>
        <p:grpSpPr>
          <a:xfrm>
            <a:off x="380999" y="381000"/>
            <a:ext cx="1664208" cy="446692"/>
            <a:chOff x="9638475" y="1219200"/>
            <a:chExt cx="1389888" cy="373063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F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0152" y="381000"/>
            <a:ext cx="6810518" cy="629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97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2453" y="0"/>
            <a:ext cx="9978196" cy="6831496"/>
          </a:xfrm>
          <a:prstGeom prst="rect">
            <a:avLst/>
          </a:prstGeom>
        </p:spPr>
      </p:pic>
    </p:spTree>
    <p:extLst/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001500" cy="6858000"/>
          </a:xfrm>
          <a:prstGeom prst="rect">
            <a:avLst/>
          </a:prstGeom>
        </p:spPr>
      </p:pic>
    </p:spTree>
    <p:extLst/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001500" cy="6858000"/>
          </a:xfrm>
          <a:prstGeom prst="rect">
            <a:avLst/>
          </a:prstGeom>
        </p:spPr>
      </p:pic>
    </p:spTree>
    <p:extLst/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001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78912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9201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21462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D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dirty="0"/>
              <a:t>You can use the "Fixed" Date and time footer field for additional text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699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You can use the "Fixed" Date and time footer field for additional text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101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You can use the "Fixed" Date and time footer field for additional text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2933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284723"/>
            <a:ext cx="5715000" cy="1086879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600" b="1" cap="all" baseline="0"/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1" cap="all" baseline="0">
                <a:latin typeface="+mj-lt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US" dirty="0"/>
              <a:t>First subtitle</a:t>
            </a:r>
          </a:p>
          <a:p>
            <a:pPr lvl="1"/>
            <a:r>
              <a:rPr lang="en-US" dirty="0"/>
              <a:t>Second SUBTITLE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You can use the "Fixed" Date and time footer field for additional text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1" y="380999"/>
            <a:ext cx="5715001" cy="9906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4615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284723"/>
            <a:ext cx="5715000" cy="1086879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600" b="1" cap="all" baseline="0"/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1" cap="all" baseline="0">
                <a:latin typeface="+mj-lt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US" dirty="0"/>
              <a:t>First subtitle</a:t>
            </a:r>
          </a:p>
          <a:p>
            <a:pPr lvl="1"/>
            <a:r>
              <a:rPr lang="en-US" dirty="0"/>
              <a:t>Second SUBTITLE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You can use the "Fixed" Date and time footer field for additional text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1" y="380999"/>
            <a:ext cx="5715001" cy="9906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57150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11"/>
          <p:cNvSpPr>
            <a:spLocks noGrp="1"/>
          </p:cNvSpPr>
          <p:nvPr>
            <p:ph sz="quarter" idx="19"/>
          </p:nvPr>
        </p:nvSpPr>
        <p:spPr>
          <a:xfrm>
            <a:off x="6103621" y="1828804"/>
            <a:ext cx="57150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71162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You can use the "Fixed" Date and time footer field for additional text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68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s Only: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You can use the "Fixed" Date and time footer field for additional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607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s Only: Dark">
    <p:bg>
      <p:bgPr>
        <a:solidFill>
          <a:srgbClr val="000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 can use the "Fixed" Date and time footer field for additional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1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: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95302"/>
            <a:ext cx="8953500" cy="6172199"/>
          </a:xfr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defRPr sz="12000" b="1" spc="-200" baseline="0">
                <a:latin typeface="+mj-lt"/>
              </a:defRPr>
            </a:lvl1pPr>
            <a:lvl2pPr marL="55561" indent="0">
              <a:lnSpc>
                <a:spcPct val="65000"/>
              </a:lnSpc>
              <a:spcAft>
                <a:spcPts val="0"/>
              </a:spcAft>
              <a:defRPr sz="6000" b="1" cap="all" spc="-150" baseline="0">
                <a:latin typeface="+mj-lt"/>
              </a:defRPr>
            </a:lvl2pPr>
            <a:lvl3pPr marL="55561" indent="0">
              <a:lnSpc>
                <a:spcPct val="70000"/>
              </a:lnSpc>
              <a:spcAft>
                <a:spcPts val="0"/>
              </a:spcAft>
              <a:defRPr sz="4000" b="1" cap="all" baseline="0">
                <a:latin typeface="+mj-lt"/>
              </a:defRPr>
            </a:lvl3pPr>
            <a:lvl4pPr marL="55561" indent="0">
              <a:lnSpc>
                <a:spcPct val="80000"/>
              </a:lnSpc>
              <a:buNone/>
              <a:defRPr sz="3000" b="1" cap="all" baseline="0">
                <a:latin typeface="+mj-lt"/>
              </a:defRPr>
            </a:lvl4pPr>
            <a:lvl5pPr marL="55561" indent="0">
              <a:lnSpc>
                <a:spcPct val="80000"/>
              </a:lnSpc>
              <a:buNone/>
              <a:defRPr sz="2000" b="1" cap="all" baseline="0">
                <a:latin typeface="+mj-lt"/>
              </a:defRPr>
            </a:lvl5pPr>
          </a:lstStyle>
          <a:p>
            <a:pPr lvl="0"/>
            <a:r>
              <a:rPr lang="en-US" dirty="0" err="1"/>
              <a:t>fIrst</a:t>
            </a:r>
            <a:r>
              <a:rPr lang="en-US" dirty="0"/>
              <a:t>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5113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: Dark">
    <p:bg>
      <p:bgPr>
        <a:solidFill>
          <a:srgbClr val="000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95302"/>
            <a:ext cx="8953500" cy="6172199"/>
          </a:xfr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defRPr sz="12000" b="1" spc="-200" baseline="0">
                <a:solidFill>
                  <a:schemeClr val="bg1"/>
                </a:solidFill>
                <a:latin typeface="+mn-lt"/>
              </a:defRPr>
            </a:lvl1pPr>
            <a:lvl2pPr marL="55561" indent="0">
              <a:lnSpc>
                <a:spcPct val="65000"/>
              </a:lnSpc>
              <a:spcAft>
                <a:spcPts val="0"/>
              </a:spcAft>
              <a:defRPr sz="6000" b="1" cap="all" spc="-150" baseline="0">
                <a:solidFill>
                  <a:schemeClr val="bg1"/>
                </a:solidFill>
                <a:latin typeface="+mn-lt"/>
              </a:defRPr>
            </a:lvl2pPr>
            <a:lvl3pPr marL="55561" indent="0">
              <a:lnSpc>
                <a:spcPct val="70000"/>
              </a:lnSpc>
              <a:spcAft>
                <a:spcPts val="0"/>
              </a:spcAft>
              <a:defRPr sz="4000" b="1" cap="all" baseline="0">
                <a:solidFill>
                  <a:schemeClr val="bg1"/>
                </a:solidFill>
                <a:latin typeface="+mn-lt"/>
              </a:defRPr>
            </a:lvl3pPr>
            <a:lvl4pPr marL="55561" indent="0">
              <a:lnSpc>
                <a:spcPct val="80000"/>
              </a:lnSpc>
              <a:buNone/>
              <a:defRPr sz="3000" b="1" cap="all" baseline="0">
                <a:solidFill>
                  <a:schemeClr val="bg1"/>
                </a:solidFill>
                <a:latin typeface="+mn-lt"/>
              </a:defRPr>
            </a:lvl4pPr>
            <a:lvl5pPr marL="55561" indent="0">
              <a:lnSpc>
                <a:spcPct val="80000"/>
              </a:lnSpc>
              <a:buNone/>
              <a:defRPr sz="2000" b="1" cap="all" baseline="0">
                <a:solidFill>
                  <a:schemeClr val="bg1"/>
                </a:solidFill>
                <a:latin typeface="+mn-lt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 err="1"/>
              <a:t>fIrst</a:t>
            </a:r>
            <a:r>
              <a:rPr lang="en-US" dirty="0"/>
              <a:t>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7656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or TakeAway: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571500"/>
            <a:ext cx="8572500" cy="29718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10000" spc="-150"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0999" y="3543300"/>
            <a:ext cx="8572501" cy="3162300"/>
          </a:xfr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defRPr sz="5000" b="1" spc="-150" baseline="0">
                <a:latin typeface="+mn-lt"/>
              </a:defRPr>
            </a:lvl1pPr>
            <a:lvl2pPr>
              <a:lnSpc>
                <a:spcPct val="70000"/>
              </a:lnSpc>
              <a:spcAft>
                <a:spcPts val="0"/>
              </a:spcAft>
              <a:defRPr sz="5000" b="1" cap="all" baseline="0">
                <a:latin typeface="+mn-lt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3300" b="1" cap="all" baseline="0">
                <a:latin typeface="+mn-lt"/>
              </a:defRPr>
            </a:lvl3pPr>
            <a:lvl4pPr marL="55561" indent="0">
              <a:lnSpc>
                <a:spcPct val="80000"/>
              </a:lnSpc>
              <a:buNone/>
              <a:defRPr sz="2500" b="1" cap="all" baseline="0">
                <a:latin typeface="+mn-lt"/>
              </a:defRPr>
            </a:lvl4pPr>
            <a:lvl5pPr marL="55561" indent="0">
              <a:lnSpc>
                <a:spcPct val="85000"/>
              </a:lnSpc>
              <a:buNone/>
              <a:defRPr sz="1600" b="1" cap="all" baseline="0">
                <a:latin typeface="+mn-lt"/>
              </a:defRPr>
            </a:lvl5pPr>
            <a:lvl7pPr>
              <a:defRPr b="1">
                <a:latin typeface="+mn-lt"/>
              </a:defRPr>
            </a:lvl7pPr>
            <a:lvl8pPr>
              <a:defRPr>
                <a:latin typeface="+mn-lt"/>
              </a:defRPr>
            </a:lvl8pPr>
            <a:lvl9pPr>
              <a:defRPr>
                <a:latin typeface="+mn-lt"/>
              </a:defRPr>
            </a:lvl9pPr>
          </a:lstStyle>
          <a:p>
            <a:pPr lvl="0"/>
            <a:r>
              <a:rPr lang="en-US" dirty="0" err="1"/>
              <a:t>fIrst</a:t>
            </a:r>
            <a:r>
              <a:rPr lang="en-US" dirty="0"/>
              <a:t>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60689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or TakeAway: Dark">
    <p:bg>
      <p:bgPr>
        <a:solidFill>
          <a:srgbClr val="000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571500"/>
            <a:ext cx="8572500" cy="29718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10000" spc="-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0999" y="3543300"/>
            <a:ext cx="8572501" cy="3162300"/>
          </a:xfr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defRPr sz="5000" b="1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0000"/>
              </a:lnSpc>
              <a:spcAft>
                <a:spcPts val="0"/>
              </a:spcAft>
              <a:defRPr sz="5000" b="1" cap="all" baseline="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3300" b="1" cap="all" baseline="0">
                <a:solidFill>
                  <a:schemeClr val="bg1"/>
                </a:solidFill>
                <a:latin typeface="+mn-lt"/>
              </a:defRPr>
            </a:lvl3pPr>
            <a:lvl4pPr marL="55561" indent="0">
              <a:lnSpc>
                <a:spcPct val="80000"/>
              </a:lnSpc>
              <a:buNone/>
              <a:defRPr sz="2500" b="1" cap="all" baseline="0">
                <a:solidFill>
                  <a:schemeClr val="bg1"/>
                </a:solidFill>
                <a:latin typeface="+mn-lt"/>
              </a:defRPr>
            </a:lvl4pPr>
            <a:lvl5pPr marL="55561" indent="0">
              <a:lnSpc>
                <a:spcPct val="85000"/>
              </a:lnSpc>
              <a:buNone/>
              <a:defRPr sz="1600" b="1" cap="all" baseline="0">
                <a:solidFill>
                  <a:schemeClr val="bg1"/>
                </a:solidFill>
                <a:latin typeface="+mn-lt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 b="1">
                <a:solidFill>
                  <a:schemeClr val="bg1"/>
                </a:solidFill>
                <a:latin typeface="+mn-lt"/>
              </a:defRPr>
            </a:lvl7pPr>
            <a:lvl8pPr>
              <a:defRPr>
                <a:solidFill>
                  <a:schemeClr val="bg1"/>
                </a:solidFill>
                <a:latin typeface="+mn-lt"/>
              </a:defRPr>
            </a:lvl8pPr>
            <a:lvl9pPr>
              <a:defRPr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 dirty="0" err="1"/>
              <a:t>fIrst</a:t>
            </a:r>
            <a:r>
              <a:rPr lang="en-US" dirty="0"/>
              <a:t>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80003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72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548EF4-DB72-4492-B21C-BBCD8E50A9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7353" y="6519009"/>
            <a:ext cx="533264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You can use the "Fixed" Date and time footer field for additional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5607BDF-1D2B-436A-976A-3922CF0C7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84910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686" r:id="rId2"/>
    <p:sldLayoutId id="2147483709" r:id="rId3"/>
    <p:sldLayoutId id="2147483708" r:id="rId4"/>
    <p:sldLayoutId id="2147483710" r:id="rId5"/>
    <p:sldLayoutId id="2147483711" r:id="rId6"/>
    <p:sldLayoutId id="2147483712" r:id="rId7"/>
  </p:sldLayoutIdLst>
  <p:hf hdr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1224" userDrawn="1">
          <p15:clr>
            <a:srgbClr val="F26B43"/>
          </p15:clr>
        </p15:guide>
        <p15:guide id="2" pos="5640" userDrawn="1">
          <p15:clr>
            <a:srgbClr val="F26B43"/>
          </p15:clr>
        </p15:guide>
        <p15:guide id="4" userDrawn="1">
          <p15:clr>
            <a:srgbClr val="F26B43"/>
          </p15:clr>
        </p15:guide>
        <p15:guide id="5" orient="horz" pos="24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3" pos="2040" userDrawn="1">
          <p15:clr>
            <a:srgbClr val="F26B43"/>
          </p15:clr>
        </p15:guide>
        <p15:guide id="14" pos="7440" userDrawn="1">
          <p15:clr>
            <a:srgbClr val="F26B43"/>
          </p15:clr>
        </p15:guide>
        <p15:guide id="15" orient="horz" pos="2232" userDrawn="1">
          <p15:clr>
            <a:srgbClr val="F26B43"/>
          </p15:clr>
        </p15:guide>
        <p15:guide id="16" orient="horz" pos="32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7353" y="6519009"/>
            <a:ext cx="533264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You can use the "Fixed" Date and time footer field for additional text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0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700" r:id="rId2"/>
    <p:sldLayoutId id="2147483701" r:id="rId3"/>
    <p:sldLayoutId id="2147483680" r:id="rId4"/>
    <p:sldLayoutId id="2147483707" r:id="rId5"/>
    <p:sldLayoutId id="2147483702" r:id="rId6"/>
    <p:sldLayoutId id="2147483664" r:id="rId7"/>
    <p:sldLayoutId id="2147483670" r:id="rId8"/>
  </p:sldLayoutIdLst>
  <p:hf hdr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rgbClr val="004DFF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1152" userDrawn="1">
          <p15:clr>
            <a:srgbClr val="F26B43"/>
          </p15:clr>
        </p15:guide>
        <p15:guide id="2" pos="5640" userDrawn="1">
          <p15:clr>
            <a:srgbClr val="F26B43"/>
          </p15:clr>
        </p15:guide>
        <p15:guide id="3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8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3" pos="2040" userDrawn="1">
          <p15:clr>
            <a:srgbClr val="F26B43"/>
          </p15:clr>
        </p15:guide>
        <p15:guide id="14" pos="7440" userDrawn="1">
          <p15:clr>
            <a:srgbClr val="F26B43"/>
          </p15:clr>
        </p15:guide>
        <p15:guide id="16" orient="horz" pos="240" userDrawn="1">
          <p15:clr>
            <a:srgbClr val="F26B43"/>
          </p15:clr>
        </p15:guide>
        <p15:guide id="17" orient="horz" pos="410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76401"/>
            <a:ext cx="11430000" cy="4842607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6097353" y="6519009"/>
            <a:ext cx="533264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You can use the "Fixed" Date and time footer field for additional text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98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1" r:id="rId2"/>
  </p:sldLayoutIdLst>
  <p:hf hdr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60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49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n-lt"/>
          <a:ea typeface="Graphik" panose="02010609060101010101" pitchFamily="49" charset="-122"/>
          <a:cs typeface="+mn-cs"/>
        </a:defRPr>
      </a:lvl1pPr>
      <a:lvl2pPr marL="57149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57149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9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400041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71486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1248" userDrawn="1">
          <p15:clr>
            <a:srgbClr val="F26B43"/>
          </p15:clr>
        </p15:guide>
        <p15:guide id="2" pos="5640" userDrawn="1">
          <p15:clr>
            <a:srgbClr val="F26B43"/>
          </p15:clr>
        </p15:guide>
        <p15:guide id="4" userDrawn="1">
          <p15:clr>
            <a:srgbClr val="F26B43"/>
          </p15:clr>
        </p15:guide>
        <p15:guide id="5" orient="horz" pos="24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3" pos="2040" userDrawn="1">
          <p15:clr>
            <a:srgbClr val="F26B43"/>
          </p15:clr>
        </p15:guide>
        <p15:guide id="14" orient="horz" pos="2232" userDrawn="1">
          <p15:clr>
            <a:srgbClr val="F26B43"/>
          </p15:clr>
        </p15:guide>
        <p15:guide id="15" pos="7440" userDrawn="1">
          <p15:clr>
            <a:srgbClr val="F26B43"/>
          </p15:clr>
        </p15:guide>
        <p15:guide id="16" orient="horz" pos="4104" userDrawn="1">
          <p15:clr>
            <a:srgbClr val="F26B43"/>
          </p15:clr>
        </p15:guide>
        <p15:guide id="17" orient="horz" pos="32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90206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3432B83B-E0CE-4172-A4EE-40CE1E2A3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7353" y="6519009"/>
            <a:ext cx="533264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You can use the "Fixed" Date and time footer field for additional text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FB23EA86-0EA9-42F2-9666-0B2BEB164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9906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4" r:id="rId2"/>
    <p:sldLayoutId id="2147483703" r:id="rId3"/>
  </p:sldLayoutIdLst>
  <p:hf hdr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49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n-lt"/>
          <a:ea typeface="+mn-ea"/>
          <a:cs typeface="+mn-cs"/>
        </a:defRPr>
      </a:lvl1pPr>
      <a:lvl2pPr marL="57149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57149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9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400041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71486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n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b="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1248" userDrawn="1">
          <p15:clr>
            <a:srgbClr val="F26B43"/>
          </p15:clr>
        </p15:guide>
        <p15:guide id="2" pos="5640" userDrawn="1">
          <p15:clr>
            <a:srgbClr val="F26B43"/>
          </p15:clr>
        </p15:guide>
        <p15:guide id="4" userDrawn="1">
          <p15:clr>
            <a:srgbClr val="F26B43"/>
          </p15:clr>
        </p15:guide>
        <p15:guide id="5" orient="horz" pos="24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3" pos="2040" userDrawn="1">
          <p15:clr>
            <a:srgbClr val="F26B43"/>
          </p15:clr>
        </p15:guide>
        <p15:guide id="14" orient="horz" pos="2232" userDrawn="1">
          <p15:clr>
            <a:srgbClr val="F26B43"/>
          </p15:clr>
        </p15:guide>
        <p15:guide id="15" pos="7440" userDrawn="1">
          <p15:clr>
            <a:srgbClr val="F26B43"/>
          </p15:clr>
        </p15:guide>
        <p15:guide id="16" orient="horz" pos="4104" userDrawn="1">
          <p15:clr>
            <a:srgbClr val="F26B43"/>
          </p15:clr>
        </p15:guide>
        <p15:guide id="17" orient="horz" pos="32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8705849" cy="4689475"/>
          </a:xfrm>
        </p:spPr>
        <p:txBody>
          <a:bodyPr>
            <a:normAutofit/>
          </a:bodyPr>
          <a:lstStyle/>
          <a:p>
            <a:r>
              <a:rPr lang="en-US" dirty="0" smtClean="0"/>
              <a:t>Introduction</a:t>
            </a:r>
            <a:endParaRPr lang="en-US" dirty="0"/>
          </a:p>
          <a:p>
            <a:pPr lvl="1"/>
            <a:r>
              <a:rPr lang="en-US" dirty="0" smtClean="0"/>
              <a:t>What is B.I. Essentials ?</a:t>
            </a:r>
            <a:endParaRPr lang="en-US" dirty="0"/>
          </a:p>
          <a:p>
            <a:pPr lvl="2"/>
            <a:r>
              <a:rPr lang="en-US" dirty="0" smtClean="0"/>
              <a:t>B.I Essentials is a concept to dynamically identify elements in PLM Structure.</a:t>
            </a:r>
            <a:endParaRPr lang="en-US" dirty="0"/>
          </a:p>
          <a:p>
            <a:pPr lvl="1"/>
            <a:r>
              <a:rPr lang="en-US" dirty="0" smtClean="0"/>
              <a:t>What is the value of customizing B.I Essentials ?</a:t>
            </a:r>
          </a:p>
          <a:p>
            <a:pPr lvl="2"/>
            <a:r>
              <a:rPr lang="en-US" dirty="0" smtClean="0"/>
              <a:t>Proposed customer B.I. to identify what he wants and as he wants with:</a:t>
            </a:r>
          </a:p>
          <a:p>
            <a:pPr lvl="3"/>
            <a:r>
              <a:rPr lang="en-US" dirty="0" smtClean="0"/>
              <a:t>His own colors</a:t>
            </a:r>
          </a:p>
          <a:p>
            <a:pPr lvl="3"/>
            <a:r>
              <a:rPr lang="en-US" dirty="0" smtClean="0"/>
              <a:t>His own labels</a:t>
            </a:r>
          </a:p>
          <a:p>
            <a:pPr lvl="3"/>
            <a:r>
              <a:rPr lang="en-US" dirty="0" smtClean="0"/>
              <a:t>His own rules (values of such attributes result to such color and label)</a:t>
            </a:r>
          </a:p>
          <a:p>
            <a:pPr lvl="3"/>
            <a:endParaRPr lang="en-US" dirty="0" smtClean="0"/>
          </a:p>
          <a:p>
            <a:pPr lvl="2"/>
            <a:r>
              <a:rPr lang="en-US" dirty="0" smtClean="0"/>
              <a:t>Easy To:</a:t>
            </a:r>
          </a:p>
          <a:p>
            <a:pPr lvl="3"/>
            <a:r>
              <a:rPr lang="en-US" dirty="0" smtClean="0"/>
              <a:t>Implement</a:t>
            </a:r>
          </a:p>
          <a:p>
            <a:pPr lvl="3"/>
            <a:r>
              <a:rPr lang="en-US" dirty="0" smtClean="0"/>
              <a:t>Test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/ Objectives / Description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83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4DFF"/>
                </a:solidFill>
              </a:rPr>
              <a:t>Agenda</a:t>
            </a:r>
            <a:endParaRPr lang="en-US" dirty="0">
              <a:solidFill>
                <a:srgbClr val="004D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/>
        <p:txBody>
          <a:bodyPr>
            <a:normAutofit/>
          </a:bodyPr>
          <a:lstStyle/>
          <a:p>
            <a:pPr marL="512762" lvl="1" indent="-457200">
              <a:buFont typeface="+mj-lt"/>
              <a:buAutoNum type="arabicPeriod"/>
            </a:pPr>
            <a:r>
              <a:rPr lang="en-US" dirty="0"/>
              <a:t>How to use </a:t>
            </a:r>
            <a:r>
              <a:rPr lang="en-US" dirty="0" smtClean="0"/>
              <a:t>B.I. Essentials</a:t>
            </a:r>
          </a:p>
          <a:p>
            <a:pPr marL="512762" lvl="1" indent="-457200">
              <a:buFont typeface="+mj-lt"/>
              <a:buAutoNum type="arabicPeriod"/>
            </a:pPr>
            <a:r>
              <a:rPr lang="en-US" dirty="0" smtClean="0"/>
              <a:t>How to customize it.</a:t>
            </a:r>
          </a:p>
          <a:p>
            <a:pPr marL="512762" lvl="1" indent="-457200">
              <a:buFont typeface="+mj-lt"/>
              <a:buAutoNum type="arabicPeriod"/>
            </a:pPr>
            <a:r>
              <a:rPr lang="en-US" dirty="0" smtClean="0"/>
              <a:t>B.I. Essentials Checker</a:t>
            </a:r>
          </a:p>
          <a:p>
            <a:pPr marL="512762" lvl="1" indent="-457200">
              <a:buFont typeface="+mj-lt"/>
              <a:buAutoNum type="arabicPeriod"/>
            </a:pPr>
            <a:r>
              <a:rPr lang="en-US" dirty="0" smtClean="0"/>
              <a:t>Tips</a:t>
            </a:r>
            <a:endParaRPr lang="en-US" dirty="0" smtClean="0"/>
          </a:p>
          <a:p>
            <a:pPr marL="512762" lvl="1" indent="-457200">
              <a:buFont typeface="+mj-lt"/>
              <a:buAutoNum type="arabicPeriod"/>
            </a:pPr>
            <a:r>
              <a:rPr lang="en-US" dirty="0" smtClean="0"/>
              <a:t>Going Further (</a:t>
            </a:r>
            <a:r>
              <a:rPr lang="en-US" dirty="0" err="1" smtClean="0"/>
              <a:t>DSDoc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15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6" y="1002538"/>
            <a:ext cx="8705849" cy="1366090"/>
          </a:xfrm>
        </p:spPr>
        <p:txBody>
          <a:bodyPr>
            <a:normAutofit fontScale="85000" lnSpcReduction="2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How To Access</a:t>
            </a:r>
          </a:p>
          <a:p>
            <a:pPr lvl="2"/>
            <a:r>
              <a:rPr lang="fr-FR" dirty="0" smtClean="0"/>
              <a:t>In the </a:t>
            </a:r>
            <a:r>
              <a:rPr lang="fr-FR" dirty="0"/>
              <a:t>action bar, </a:t>
            </a:r>
            <a:r>
              <a:rPr lang="fr-FR" dirty="0" smtClean="0"/>
              <a:t>select the Tools Tab/Section (1)</a:t>
            </a:r>
          </a:p>
          <a:p>
            <a:pPr lvl="2"/>
            <a:r>
              <a:rPr lang="fr-FR" dirty="0" smtClean="0"/>
              <a:t>In the Tools Tab/Section select th B.I Essentials </a:t>
            </a:r>
            <a:r>
              <a:rPr lang="fr-FR" dirty="0" err="1" smtClean="0"/>
              <a:t>Button</a:t>
            </a:r>
            <a:r>
              <a:rPr lang="fr-FR" dirty="0" smtClean="0"/>
              <a:t>/Command (2)</a:t>
            </a:r>
          </a:p>
          <a:p>
            <a:pPr lvl="2"/>
            <a:r>
              <a:rPr lang="fr-FR" dirty="0" smtClean="0"/>
              <a:t>The B.I. Essentials Menu </a:t>
            </a:r>
            <a:r>
              <a:rPr lang="fr-FR" dirty="0" err="1" smtClean="0"/>
              <a:t>appears</a:t>
            </a:r>
            <a:r>
              <a:rPr lang="fr-FR" dirty="0" smtClean="0"/>
              <a:t> (in a Top-Right corner)</a:t>
            </a:r>
            <a:endParaRPr lang="en-US" dirty="0" smtClean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B.I. Essentials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7" name="Image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68" y="3537058"/>
            <a:ext cx="4363059" cy="1114581"/>
          </a:xfrm>
          <a:prstGeom prst="rect">
            <a:avLst/>
          </a:prstGeom>
        </p:spPr>
      </p:pic>
      <p:grpSp>
        <p:nvGrpSpPr>
          <p:cNvPr id="52" name="Groupe 51"/>
          <p:cNvGrpSpPr/>
          <p:nvPr/>
        </p:nvGrpSpPr>
        <p:grpSpPr>
          <a:xfrm>
            <a:off x="860197" y="2946783"/>
            <a:ext cx="4534533" cy="2124372"/>
            <a:chOff x="464732" y="2053770"/>
            <a:chExt cx="4534533" cy="2124372"/>
          </a:xfrm>
        </p:grpSpPr>
        <p:grpSp>
          <p:nvGrpSpPr>
            <p:cNvPr id="44" name="Groupe 43"/>
            <p:cNvGrpSpPr/>
            <p:nvPr/>
          </p:nvGrpSpPr>
          <p:grpSpPr>
            <a:xfrm>
              <a:off x="464732" y="2053770"/>
              <a:ext cx="4534533" cy="2124372"/>
              <a:chOff x="105031" y="2840540"/>
              <a:chExt cx="4534533" cy="2124372"/>
            </a:xfrm>
          </p:grpSpPr>
          <p:pic>
            <p:nvPicPr>
              <p:cNvPr id="3" name="Image 2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031" y="2840540"/>
                <a:ext cx="4534533" cy="2124372"/>
              </a:xfrm>
              <a:prstGeom prst="rect">
                <a:avLst/>
              </a:prstGeom>
            </p:spPr>
          </p:pic>
          <p:sp>
            <p:nvSpPr>
              <p:cNvPr id="11" name="Rectangle 10"/>
              <p:cNvSpPr/>
              <p:nvPr/>
            </p:nvSpPr>
            <p:spPr>
              <a:xfrm>
                <a:off x="3533814" y="3988106"/>
                <a:ext cx="154236" cy="143219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 smtClean="0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795531" y="3988106"/>
                <a:ext cx="310308" cy="14505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 smtClean="0"/>
              </a:p>
            </p:txBody>
          </p:sp>
          <p:cxnSp>
            <p:nvCxnSpPr>
              <p:cNvPr id="14" name="Connecteur droit 13"/>
              <p:cNvCxnSpPr>
                <a:stCxn id="12" idx="0"/>
                <a:endCxn id="20" idx="4"/>
              </p:cNvCxnSpPr>
              <p:nvPr/>
            </p:nvCxnSpPr>
            <p:spPr>
              <a:xfrm flipV="1">
                <a:off x="2950685" y="3434945"/>
                <a:ext cx="310307" cy="5531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eur droit 16"/>
              <p:cNvCxnSpPr>
                <a:stCxn id="11" idx="0"/>
                <a:endCxn id="20" idx="4"/>
              </p:cNvCxnSpPr>
              <p:nvPr/>
            </p:nvCxnSpPr>
            <p:spPr>
              <a:xfrm flipH="1" flipV="1">
                <a:off x="3260992" y="3434945"/>
                <a:ext cx="349940" cy="553161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ZoneTexte 32"/>
              <p:cNvSpPr txBox="1"/>
              <p:nvPr/>
            </p:nvSpPr>
            <p:spPr>
              <a:xfrm>
                <a:off x="3204085" y="3161841"/>
                <a:ext cx="113814" cy="292388"/>
              </a:xfrm>
              <a:prstGeom prst="rect">
                <a:avLst/>
              </a:prstGeom>
              <a:noFill/>
            </p:spPr>
            <p:txBody>
              <a:bodyPr wrap="none" lIns="0" tIns="0" rIns="0" bIns="45720" rtlCol="0">
                <a:spAutoFit/>
              </a:bodyPr>
              <a:lstStyle/>
              <a:p>
                <a:r>
                  <a:rPr lang="fr-FR" sz="1600" dirty="0" smtClean="0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279400" y="4210050"/>
                <a:ext cx="571500" cy="59055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 smtClean="0"/>
              </a:p>
            </p:txBody>
          </p:sp>
          <p:sp>
            <p:nvSpPr>
              <p:cNvPr id="39" name="Ellipse 38"/>
              <p:cNvSpPr/>
              <p:nvPr/>
            </p:nvSpPr>
            <p:spPr>
              <a:xfrm>
                <a:off x="2052808" y="3850395"/>
                <a:ext cx="319489" cy="275422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 smtClean="0"/>
              </a:p>
            </p:txBody>
          </p:sp>
          <p:cxnSp>
            <p:nvCxnSpPr>
              <p:cNvPr id="40" name="Connecteur droit 39"/>
              <p:cNvCxnSpPr>
                <a:stCxn id="38" idx="3"/>
                <a:endCxn id="39" idx="2"/>
              </p:cNvCxnSpPr>
              <p:nvPr/>
            </p:nvCxnSpPr>
            <p:spPr>
              <a:xfrm flipV="1">
                <a:off x="850900" y="3988106"/>
                <a:ext cx="1201908" cy="517219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ZoneTexte 42"/>
              <p:cNvSpPr txBox="1"/>
              <p:nvPr/>
            </p:nvSpPr>
            <p:spPr>
              <a:xfrm>
                <a:off x="2155645" y="3871510"/>
                <a:ext cx="113814" cy="292388"/>
              </a:xfrm>
              <a:prstGeom prst="rect">
                <a:avLst/>
              </a:prstGeom>
              <a:noFill/>
            </p:spPr>
            <p:txBody>
              <a:bodyPr wrap="none" lIns="0" tIns="0" rIns="0" bIns="45720" rtlCol="0">
                <a:spAutoFit/>
              </a:bodyPr>
              <a:lstStyle/>
              <a:p>
                <a:r>
                  <a:rPr lang="fr-FR" sz="1600" dirty="0" smtClean="0">
                    <a:solidFill>
                      <a:srgbClr val="FF0000"/>
                    </a:solidFill>
                  </a:rPr>
                  <a:t>2</a:t>
                </a:r>
              </a:p>
            </p:txBody>
          </p:sp>
        </p:grpSp>
        <p:sp>
          <p:nvSpPr>
            <p:cNvPr id="20" name="Ellipse 19"/>
            <p:cNvSpPr/>
            <p:nvPr/>
          </p:nvSpPr>
          <p:spPr>
            <a:xfrm>
              <a:off x="3460948" y="2372753"/>
              <a:ext cx="319489" cy="27542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 smtClean="0"/>
            </a:p>
          </p:txBody>
        </p:sp>
      </p:grpSp>
      <p:sp>
        <p:nvSpPr>
          <p:cNvPr id="53" name="Chevron 52"/>
          <p:cNvSpPr/>
          <p:nvPr/>
        </p:nvSpPr>
        <p:spPr>
          <a:xfrm>
            <a:off x="5860974" y="3913128"/>
            <a:ext cx="451691" cy="421637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735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6" y="1002537"/>
            <a:ext cx="9096062" cy="1791869"/>
          </a:xfrm>
        </p:spPr>
        <p:txBody>
          <a:bodyPr>
            <a:normAutofit fontScale="85000" lnSpcReduction="2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Use (1/2)</a:t>
            </a:r>
          </a:p>
          <a:p>
            <a:pPr lvl="2"/>
            <a:r>
              <a:rPr lang="fr-FR" dirty="0" smtClean="0"/>
              <a:t>In the drop-down </a:t>
            </a:r>
            <a:r>
              <a:rPr lang="fr-FR" dirty="0" err="1" smtClean="0"/>
              <a:t>list</a:t>
            </a:r>
            <a:r>
              <a:rPr lang="fr-FR" dirty="0" smtClean="0"/>
              <a:t>, select the B.I.</a:t>
            </a:r>
          </a:p>
          <a:p>
            <a:pPr lvl="2"/>
            <a:r>
              <a:rPr lang="fr-FR" dirty="0" smtClean="0"/>
              <a:t>The </a:t>
            </a:r>
            <a:r>
              <a:rPr lang="fr-FR" dirty="0" err="1" smtClean="0"/>
              <a:t>legend</a:t>
            </a:r>
            <a:r>
              <a:rPr lang="fr-FR" dirty="0" smtClean="0"/>
              <a:t> </a:t>
            </a:r>
            <a:r>
              <a:rPr lang="fr-FR" dirty="0" err="1" smtClean="0"/>
              <a:t>appears</a:t>
            </a:r>
            <a:r>
              <a:rPr lang="fr-FR" dirty="0" smtClean="0"/>
              <a:t> </a:t>
            </a:r>
            <a:r>
              <a:rPr lang="fr-FR" dirty="0" err="1" smtClean="0"/>
              <a:t>under</a:t>
            </a:r>
            <a:r>
              <a:rPr lang="fr-FR" dirty="0" smtClean="0"/>
              <a:t> the drop-down </a:t>
            </a:r>
            <a:r>
              <a:rPr lang="fr-FR" dirty="0" err="1" smtClean="0"/>
              <a:t>list</a:t>
            </a:r>
            <a:r>
              <a:rPr lang="fr-FR" dirty="0" smtClean="0"/>
              <a:t>,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colors</a:t>
            </a:r>
            <a:r>
              <a:rPr lang="fr-FR" dirty="0" smtClean="0"/>
              <a:t> </a:t>
            </a:r>
            <a:r>
              <a:rPr lang="fr-FR" dirty="0" err="1" smtClean="0"/>
              <a:t>pastils</a:t>
            </a:r>
            <a:r>
              <a:rPr lang="fr-FR" dirty="0" smtClean="0"/>
              <a:t> and </a:t>
            </a:r>
            <a:r>
              <a:rPr lang="fr-FR" dirty="0" err="1" smtClean="0"/>
              <a:t>their</a:t>
            </a:r>
            <a:r>
              <a:rPr lang="fr-FR" dirty="0" smtClean="0"/>
              <a:t> descriptions</a:t>
            </a:r>
          </a:p>
          <a:p>
            <a:pPr lvl="2"/>
            <a:r>
              <a:rPr lang="fr-FR" dirty="0" err="1" smtClean="0"/>
              <a:t>Color</a:t>
            </a:r>
            <a:r>
              <a:rPr lang="fr-FR" dirty="0" smtClean="0"/>
              <a:t> </a:t>
            </a:r>
            <a:r>
              <a:rPr lang="fr-FR" dirty="0" err="1" smtClean="0"/>
              <a:t>rectancle</a:t>
            </a:r>
            <a:r>
              <a:rPr lang="fr-FR" dirty="0" smtClean="0"/>
              <a:t> </a:t>
            </a:r>
            <a:r>
              <a:rPr lang="fr-FR" dirty="0" err="1" smtClean="0"/>
              <a:t>appears</a:t>
            </a:r>
            <a:r>
              <a:rPr lang="fr-FR" dirty="0" smtClean="0"/>
              <a:t> </a:t>
            </a:r>
            <a:r>
              <a:rPr lang="fr-FR" dirty="0" err="1" smtClean="0"/>
              <a:t>between</a:t>
            </a:r>
            <a:r>
              <a:rPr lang="fr-FR" dirty="0" smtClean="0"/>
              <a:t> </a:t>
            </a:r>
            <a:r>
              <a:rPr lang="fr-FR" dirty="0" err="1" smtClean="0"/>
              <a:t>icon</a:t>
            </a:r>
            <a:r>
              <a:rPr lang="fr-FR" dirty="0" smtClean="0"/>
              <a:t> and </a:t>
            </a:r>
            <a:r>
              <a:rPr lang="fr-FR" dirty="0" err="1" smtClean="0"/>
              <a:t>titles</a:t>
            </a:r>
            <a:r>
              <a:rPr lang="fr-FR" dirty="0" smtClean="0"/>
              <a:t> of </a:t>
            </a:r>
            <a:r>
              <a:rPr lang="fr-FR" dirty="0" err="1" smtClean="0"/>
              <a:t>elements</a:t>
            </a:r>
            <a:r>
              <a:rPr lang="fr-FR" dirty="0" smtClean="0"/>
              <a:t>, </a:t>
            </a:r>
            <a:r>
              <a:rPr lang="fr-FR" dirty="0" err="1" smtClean="0"/>
              <a:t>corresponding</a:t>
            </a:r>
            <a:r>
              <a:rPr lang="fr-FR" dirty="0" smtClean="0"/>
              <a:t> to </a:t>
            </a:r>
            <a:r>
              <a:rPr lang="fr-FR" dirty="0" err="1" smtClean="0"/>
              <a:t>element</a:t>
            </a:r>
            <a:r>
              <a:rPr lang="fr-FR" dirty="0" smtClean="0"/>
              <a:t> state (</a:t>
            </a:r>
            <a:r>
              <a:rPr lang="fr-FR" dirty="0" err="1" smtClean="0"/>
              <a:t>according</a:t>
            </a:r>
            <a:r>
              <a:rPr lang="fr-FR" dirty="0" smtClean="0"/>
              <a:t> to </a:t>
            </a:r>
            <a:r>
              <a:rPr lang="fr-FR" dirty="0" err="1" smtClean="0"/>
              <a:t>rules</a:t>
            </a:r>
            <a:r>
              <a:rPr lang="fr-FR" dirty="0" smtClean="0"/>
              <a:t> of B.I. </a:t>
            </a:r>
            <a:r>
              <a:rPr lang="fr-FR" dirty="0" err="1" smtClean="0"/>
              <a:t>selected</a:t>
            </a:r>
            <a:r>
              <a:rPr lang="fr-FR" dirty="0" smtClean="0"/>
              <a:t>).</a:t>
            </a:r>
          </a:p>
          <a:p>
            <a:pPr lvl="2"/>
            <a:r>
              <a:rPr lang="fr-FR" dirty="0" smtClean="0"/>
              <a:t>The </a:t>
            </a:r>
            <a:r>
              <a:rPr lang="fr-FR" dirty="0" err="1" smtClean="0"/>
              <a:t>tiles</a:t>
            </a:r>
            <a:r>
              <a:rPr lang="fr-FR" dirty="0" smtClean="0"/>
              <a:t> are </a:t>
            </a:r>
            <a:r>
              <a:rPr lang="fr-FR" dirty="0" err="1" smtClean="0"/>
              <a:t>also</a:t>
            </a:r>
            <a:r>
              <a:rPr lang="fr-FR" dirty="0" smtClean="0"/>
              <a:t> </a:t>
            </a:r>
            <a:r>
              <a:rPr lang="fr-FR" dirty="0" err="1" smtClean="0"/>
              <a:t>colored</a:t>
            </a:r>
            <a:r>
              <a:rPr lang="fr-FR" dirty="0" smtClean="0"/>
              <a:t> (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corresponding</a:t>
            </a:r>
            <a:r>
              <a:rPr lang="fr-FR" dirty="0" smtClean="0"/>
              <a:t> </a:t>
            </a:r>
            <a:r>
              <a:rPr lang="fr-FR" dirty="0" err="1" smtClean="0"/>
              <a:t>colors</a:t>
            </a:r>
            <a:r>
              <a:rPr lang="fr-FR" dirty="0" smtClean="0"/>
              <a:t>)</a:t>
            </a:r>
            <a:endParaRPr lang="en-US" dirty="0" smtClean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B.I. Essentials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3" name="Chevron 52"/>
          <p:cNvSpPr/>
          <p:nvPr/>
        </p:nvSpPr>
        <p:spPr>
          <a:xfrm rot="19961764">
            <a:off x="5410784" y="3566160"/>
            <a:ext cx="451691" cy="421637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>
              <a:solidFill>
                <a:schemeClr val="tx1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86" y="3205895"/>
            <a:ext cx="4305901" cy="225774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171" y="2764805"/>
            <a:ext cx="4305901" cy="130310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773" y="4817185"/>
            <a:ext cx="4730695" cy="1597941"/>
          </a:xfrm>
          <a:prstGeom prst="rect">
            <a:avLst/>
          </a:prstGeom>
        </p:spPr>
      </p:pic>
      <p:sp>
        <p:nvSpPr>
          <p:cNvPr id="24" name="Chevron 23"/>
          <p:cNvSpPr/>
          <p:nvPr/>
        </p:nvSpPr>
        <p:spPr>
          <a:xfrm rot="1617853">
            <a:off x="5410284" y="4896673"/>
            <a:ext cx="451691" cy="421637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28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6" y="1002538"/>
            <a:ext cx="9096062" cy="943305"/>
          </a:xfrm>
        </p:spPr>
        <p:txBody>
          <a:bodyPr>
            <a:normAutofit fontScale="85000" lnSpcReduction="2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Use (2/2)</a:t>
            </a:r>
          </a:p>
          <a:p>
            <a:pPr lvl="2"/>
            <a:r>
              <a:rPr lang="fr-FR" dirty="0" smtClean="0"/>
              <a:t>In the </a:t>
            </a:r>
            <a:r>
              <a:rPr lang="fr-FR" dirty="0" err="1" smtClean="0"/>
              <a:t>legend</a:t>
            </a:r>
            <a:r>
              <a:rPr lang="fr-FR" dirty="0" smtClean="0"/>
              <a:t>, if </a:t>
            </a:r>
            <a:r>
              <a:rPr lang="fr-FR" dirty="0" err="1" smtClean="0"/>
              <a:t>you</a:t>
            </a:r>
            <a:r>
              <a:rPr lang="fr-FR" dirty="0" smtClean="0"/>
              <a:t> click on plus (+) </a:t>
            </a:r>
            <a:r>
              <a:rPr lang="fr-FR" dirty="0" err="1" smtClean="0"/>
              <a:t>button</a:t>
            </a:r>
            <a:r>
              <a:rPr lang="fr-FR" dirty="0" smtClean="0"/>
              <a:t> </a:t>
            </a:r>
            <a:r>
              <a:rPr lang="fr-FR" dirty="0" err="1" smtClean="0"/>
              <a:t>ahead</a:t>
            </a:r>
            <a:r>
              <a:rPr lang="fr-FR" dirty="0" smtClean="0"/>
              <a:t> the description, all </a:t>
            </a:r>
            <a:r>
              <a:rPr lang="fr-FR" dirty="0" err="1" smtClean="0"/>
              <a:t>corresponding</a:t>
            </a:r>
            <a:r>
              <a:rPr lang="fr-FR" dirty="0" smtClean="0"/>
              <a:t> </a:t>
            </a:r>
            <a:r>
              <a:rPr lang="fr-FR" dirty="0" err="1" smtClean="0"/>
              <a:t>elements</a:t>
            </a:r>
            <a:r>
              <a:rPr lang="fr-FR" dirty="0" smtClean="0"/>
              <a:t> are </a:t>
            </a:r>
            <a:r>
              <a:rPr lang="fr-FR" dirty="0" err="1" smtClean="0"/>
              <a:t>selected</a:t>
            </a:r>
            <a:endParaRPr lang="fr-FR" dirty="0" smtClean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B.I. Essentials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83" y="2000542"/>
            <a:ext cx="4305901" cy="156578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939" y="1915782"/>
            <a:ext cx="4548212" cy="1735302"/>
          </a:xfrm>
          <a:prstGeom prst="rect">
            <a:avLst/>
          </a:prstGeom>
        </p:spPr>
      </p:pic>
      <p:sp>
        <p:nvSpPr>
          <p:cNvPr id="24" name="Chevron 23"/>
          <p:cNvSpPr/>
          <p:nvPr/>
        </p:nvSpPr>
        <p:spPr>
          <a:xfrm>
            <a:off x="5118602" y="2572613"/>
            <a:ext cx="451691" cy="421637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>
              <a:solidFill>
                <a:schemeClr val="tx1"/>
              </a:solidFill>
            </a:endParaRPr>
          </a:p>
        </p:txBody>
      </p:sp>
      <p:sp>
        <p:nvSpPr>
          <p:cNvPr id="11" name="Content Placeholder 8"/>
          <p:cNvSpPr txBox="1">
            <a:spLocks/>
          </p:cNvSpPr>
          <p:nvPr/>
        </p:nvSpPr>
        <p:spPr>
          <a:xfrm>
            <a:off x="351284" y="4198061"/>
            <a:ext cx="5091977" cy="600709"/>
          </a:xfrm>
          <a:prstGeom prst="rect">
            <a:avLst/>
          </a:prstGeom>
        </p:spPr>
        <p:txBody>
          <a:bodyPr vert="horz" lIns="0" tIns="91440" rIns="0" bIns="45720" rtlCol="0">
            <a:normAutofit fontScale="85000" lnSpcReduction="10000"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fr-FR" dirty="0" smtClean="0"/>
              <a:t>If label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defined</a:t>
            </a:r>
            <a:r>
              <a:rPr lang="fr-FR" dirty="0" smtClean="0"/>
              <a:t>,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select an </a:t>
            </a:r>
            <a:r>
              <a:rPr lang="fr-FR" dirty="0" err="1" smtClean="0"/>
              <a:t>element</a:t>
            </a:r>
            <a:r>
              <a:rPr lang="fr-FR" dirty="0" smtClean="0"/>
              <a:t>, in the </a:t>
            </a:r>
            <a:r>
              <a:rPr lang="fr-FR" dirty="0" err="1" smtClean="0"/>
              <a:t>tree</a:t>
            </a:r>
            <a:r>
              <a:rPr lang="fr-FR" dirty="0" smtClean="0"/>
              <a:t>,  the label </a:t>
            </a:r>
            <a:r>
              <a:rPr lang="fr-FR" dirty="0" err="1" smtClean="0"/>
              <a:t>appears</a:t>
            </a:r>
            <a:r>
              <a:rPr lang="fr-FR" dirty="0" smtClean="0"/>
              <a:t>.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939" y="3906752"/>
            <a:ext cx="4548212" cy="257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7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6" y="1002538"/>
            <a:ext cx="9096062" cy="5383632"/>
          </a:xfrm>
        </p:spPr>
        <p:txBody>
          <a:bodyPr>
            <a:normAutofit lnSpcReduction="1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Structure</a:t>
            </a:r>
          </a:p>
          <a:p>
            <a:pPr lvl="2"/>
            <a:r>
              <a:rPr lang="fr-FR" dirty="0" smtClean="0"/>
              <a:t>The </a:t>
            </a:r>
            <a:r>
              <a:rPr lang="fr-FR" dirty="0" err="1" smtClean="0"/>
              <a:t>customization</a:t>
            </a:r>
            <a:r>
              <a:rPr lang="fr-FR" dirty="0" smtClean="0"/>
              <a:t> of B.I. </a:t>
            </a:r>
            <a:r>
              <a:rPr lang="fr-FR" dirty="0" err="1" smtClean="0"/>
              <a:t>consists</a:t>
            </a:r>
            <a:r>
              <a:rPr lang="fr-FR" dirty="0" smtClean="0"/>
              <a:t> of few files (*.</a:t>
            </a:r>
            <a:r>
              <a:rPr lang="fr-FR" dirty="0" err="1" smtClean="0"/>
              <a:t>CATRsc</a:t>
            </a:r>
            <a:r>
              <a:rPr lang="fr-FR" dirty="0" smtClean="0"/>
              <a:t>, *.</a:t>
            </a:r>
            <a:r>
              <a:rPr lang="fr-FR" dirty="0" err="1" smtClean="0"/>
              <a:t>CATNls</a:t>
            </a:r>
            <a:r>
              <a:rPr lang="fr-FR" dirty="0" smtClean="0"/>
              <a:t>, *.</a:t>
            </a:r>
            <a:r>
              <a:rPr lang="fr-FR" dirty="0" err="1" smtClean="0"/>
              <a:t>CATRule</a:t>
            </a:r>
            <a:r>
              <a:rPr lang="fr-FR" dirty="0" smtClean="0"/>
              <a:t>) </a:t>
            </a:r>
            <a:r>
              <a:rPr lang="fr-FR" dirty="0" err="1" smtClean="0"/>
              <a:t>placed</a:t>
            </a:r>
            <a:r>
              <a:rPr lang="fr-FR" dirty="0" smtClean="0"/>
              <a:t> in </a:t>
            </a:r>
            <a:r>
              <a:rPr lang="fr-FR" dirty="0" err="1" smtClean="0"/>
              <a:t>several</a:t>
            </a:r>
            <a:r>
              <a:rPr lang="fr-FR" dirty="0" smtClean="0"/>
              <a:t> </a:t>
            </a:r>
            <a:r>
              <a:rPr lang="fr-FR" dirty="0" err="1" smtClean="0"/>
              <a:t>subfolder</a:t>
            </a:r>
            <a:r>
              <a:rPr lang="fr-FR" dirty="0" smtClean="0"/>
              <a:t> of "</a:t>
            </a:r>
            <a:r>
              <a:rPr lang="fr-FR" dirty="0" err="1" smtClean="0"/>
              <a:t>resources</a:t>
            </a:r>
            <a:r>
              <a:rPr lang="fr-FR" dirty="0" smtClean="0"/>
              <a:t>" </a:t>
            </a:r>
            <a:r>
              <a:rPr lang="fr-FR" dirty="0" err="1" smtClean="0"/>
              <a:t>folder</a:t>
            </a:r>
            <a:r>
              <a:rPr lang="fr-FR" dirty="0" smtClean="0"/>
              <a:t>.</a:t>
            </a:r>
          </a:p>
          <a:p>
            <a:pPr lvl="2"/>
            <a:endParaRPr lang="fr-FR" dirty="0" smtClean="0"/>
          </a:p>
          <a:p>
            <a:pPr lvl="2"/>
            <a:r>
              <a:rPr lang="fr-FR" dirty="0" smtClean="0"/>
              <a:t>Files: </a:t>
            </a:r>
          </a:p>
          <a:p>
            <a:pPr lvl="3"/>
            <a:r>
              <a:rPr lang="fr-FR" dirty="0" smtClean="0"/>
              <a:t>A file </a:t>
            </a:r>
            <a:r>
              <a:rPr lang="fr-FR" dirty="0" err="1" smtClean="0"/>
              <a:t>named</a:t>
            </a:r>
            <a:r>
              <a:rPr lang="fr-FR" dirty="0" smtClean="0"/>
              <a:t> </a:t>
            </a:r>
            <a:r>
              <a:rPr lang="fr-FR" b="1" dirty="0" err="1" smtClean="0"/>
              <a:t>BICusto.CATRsc</a:t>
            </a:r>
            <a:r>
              <a:rPr lang="fr-FR" dirty="0" smtClean="0"/>
              <a:t>, </a:t>
            </a:r>
            <a:r>
              <a:rPr lang="fr-FR" dirty="0" err="1" smtClean="0"/>
              <a:t>containing</a:t>
            </a:r>
            <a:r>
              <a:rPr lang="fr-FR" dirty="0" smtClean="0"/>
              <a:t> </a:t>
            </a:r>
            <a:r>
              <a:rPr lang="fr-FR" dirty="0" err="1" smtClean="0"/>
              <a:t>customized</a:t>
            </a:r>
            <a:r>
              <a:rPr lang="fr-FR" dirty="0" smtClean="0"/>
              <a:t> B.I. </a:t>
            </a:r>
            <a:r>
              <a:rPr lang="fr-FR" dirty="0" err="1" smtClean="0"/>
              <a:t>declarations</a:t>
            </a:r>
            <a:r>
              <a:rPr lang="fr-FR" dirty="0" smtClean="0"/>
              <a:t>.</a:t>
            </a:r>
          </a:p>
          <a:p>
            <a:pPr lvl="3"/>
            <a:r>
              <a:rPr lang="fr-FR" dirty="0" smtClean="0"/>
              <a:t>A </a:t>
            </a:r>
            <a:r>
              <a:rPr lang="fr-FR" dirty="0" err="1" smtClean="0"/>
              <a:t>resource</a:t>
            </a:r>
            <a:r>
              <a:rPr lang="fr-FR" dirty="0" smtClean="0"/>
              <a:t> file, by B.I., </a:t>
            </a:r>
            <a:r>
              <a:rPr lang="fr-FR" dirty="0" err="1" smtClean="0"/>
              <a:t>containing</a:t>
            </a:r>
            <a:r>
              <a:rPr lang="fr-FR" dirty="0" smtClean="0"/>
              <a:t> the B.I. </a:t>
            </a:r>
            <a:r>
              <a:rPr lang="fr-FR" dirty="0" err="1" smtClean="0"/>
              <a:t>definition</a:t>
            </a:r>
            <a:r>
              <a:rPr lang="fr-FR" dirty="0" smtClean="0"/>
              <a:t>.</a:t>
            </a:r>
          </a:p>
          <a:p>
            <a:pPr lvl="3"/>
            <a:r>
              <a:rPr lang="fr-FR" dirty="0" smtClean="0"/>
              <a:t>A traduction file, </a:t>
            </a:r>
            <a:r>
              <a:rPr lang="fr-FR" dirty="0" err="1" smtClean="0"/>
              <a:t>containing</a:t>
            </a:r>
            <a:r>
              <a:rPr lang="fr-FR" dirty="0" smtClean="0"/>
              <a:t> the display </a:t>
            </a:r>
            <a:r>
              <a:rPr lang="fr-FR" dirty="0" err="1" smtClean="0"/>
              <a:t>name</a:t>
            </a:r>
            <a:r>
              <a:rPr lang="fr-FR" dirty="0" smtClean="0"/>
              <a:t> of the B.I. and the display description of </a:t>
            </a:r>
            <a:r>
              <a:rPr lang="fr-FR" dirty="0" err="1" smtClean="0"/>
              <a:t>each</a:t>
            </a:r>
            <a:r>
              <a:rPr lang="fr-FR" dirty="0" smtClean="0"/>
              <a:t> cases for the </a:t>
            </a:r>
            <a:r>
              <a:rPr lang="fr-FR" dirty="0" err="1" smtClean="0"/>
              <a:t>legend</a:t>
            </a:r>
            <a:r>
              <a:rPr lang="fr-FR" dirty="0" smtClean="0"/>
              <a:t>.</a:t>
            </a:r>
          </a:p>
          <a:p>
            <a:pPr lvl="3"/>
            <a:r>
              <a:rPr lang="fr-FR" dirty="0" smtClean="0"/>
              <a:t>A </a:t>
            </a:r>
            <a:r>
              <a:rPr lang="fr-FR" dirty="0" err="1" smtClean="0"/>
              <a:t>resource</a:t>
            </a:r>
            <a:r>
              <a:rPr lang="fr-FR" dirty="0" smtClean="0"/>
              <a:t> file, </a:t>
            </a:r>
            <a:r>
              <a:rPr lang="fr-FR" dirty="0" err="1" smtClean="0"/>
              <a:t>containing</a:t>
            </a:r>
            <a:r>
              <a:rPr lang="fr-FR" dirty="0" smtClean="0"/>
              <a:t> the </a:t>
            </a:r>
            <a:r>
              <a:rPr lang="fr-FR" dirty="0" err="1" smtClean="0"/>
              <a:t>definition</a:t>
            </a:r>
            <a:r>
              <a:rPr lang="fr-FR" dirty="0" smtClean="0"/>
              <a:t> of </a:t>
            </a:r>
            <a:r>
              <a:rPr lang="fr-FR" dirty="0" err="1" smtClean="0"/>
              <a:t>color</a:t>
            </a:r>
            <a:r>
              <a:rPr lang="fr-FR" dirty="0" smtClean="0"/>
              <a:t>.</a:t>
            </a:r>
          </a:p>
          <a:p>
            <a:pPr lvl="3"/>
            <a:r>
              <a:rPr lang="fr-FR" dirty="0" smtClean="0"/>
              <a:t>A </a:t>
            </a:r>
            <a:r>
              <a:rPr lang="fr-FR" dirty="0" err="1" smtClean="0"/>
              <a:t>resource</a:t>
            </a:r>
            <a:r>
              <a:rPr lang="fr-FR" dirty="0" smtClean="0"/>
              <a:t> file, </a:t>
            </a:r>
            <a:r>
              <a:rPr lang="fr-FR" dirty="0" err="1" smtClean="0"/>
              <a:t>containing</a:t>
            </a:r>
            <a:r>
              <a:rPr lang="fr-FR" dirty="0" smtClean="0"/>
              <a:t> </a:t>
            </a:r>
            <a:r>
              <a:rPr lang="fr-FR" dirty="0" err="1" smtClean="0"/>
              <a:t>matching</a:t>
            </a:r>
            <a:r>
              <a:rPr lang="fr-FR" dirty="0" smtClean="0"/>
              <a:t> type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rules</a:t>
            </a:r>
            <a:r>
              <a:rPr lang="fr-FR" dirty="0" smtClean="0"/>
              <a:t> for </a:t>
            </a:r>
            <a:r>
              <a:rPr lang="fr-FR" dirty="0" err="1" smtClean="0"/>
              <a:t>color</a:t>
            </a:r>
            <a:r>
              <a:rPr lang="fr-FR" dirty="0" smtClean="0"/>
              <a:t> and for label.</a:t>
            </a:r>
          </a:p>
          <a:p>
            <a:pPr lvl="3"/>
            <a:r>
              <a:rPr lang="fr-FR" dirty="0" err="1" smtClean="0"/>
              <a:t>Rules</a:t>
            </a:r>
            <a:r>
              <a:rPr lang="fr-FR" dirty="0" smtClean="0"/>
              <a:t> files, </a:t>
            </a:r>
            <a:r>
              <a:rPr lang="fr-FR" dirty="0" err="1" smtClean="0"/>
              <a:t>containing</a:t>
            </a:r>
            <a:r>
              <a:rPr lang="fr-FR" dirty="0" smtClean="0"/>
              <a:t> EKL code to </a:t>
            </a:r>
            <a:r>
              <a:rPr lang="fr-FR" dirty="0" err="1" smtClean="0"/>
              <a:t>define</a:t>
            </a:r>
            <a:r>
              <a:rPr lang="fr-FR" dirty="0" smtClean="0"/>
              <a:t> </a:t>
            </a:r>
            <a:r>
              <a:rPr lang="fr-FR" dirty="0" err="1" smtClean="0"/>
              <a:t>color</a:t>
            </a:r>
            <a:r>
              <a:rPr lang="fr-FR" dirty="0" smtClean="0"/>
              <a:t> and label to </a:t>
            </a:r>
            <a:r>
              <a:rPr lang="fr-FR" dirty="0" err="1" smtClean="0"/>
              <a:t>apply</a:t>
            </a:r>
            <a:r>
              <a:rPr lang="fr-FR" dirty="0" smtClean="0"/>
              <a:t>.</a:t>
            </a:r>
          </a:p>
          <a:p>
            <a:pPr lvl="3"/>
            <a:endParaRPr lang="fr-FR" dirty="0" smtClean="0"/>
          </a:p>
          <a:p>
            <a:pPr lvl="2"/>
            <a:r>
              <a:rPr lang="fr-FR" dirty="0" err="1" smtClean="0"/>
              <a:t>Folders</a:t>
            </a:r>
            <a:r>
              <a:rPr lang="fr-FR" dirty="0" smtClean="0"/>
              <a:t>:</a:t>
            </a:r>
          </a:p>
          <a:p>
            <a:pPr lvl="3"/>
            <a:r>
              <a:rPr lang="fr-FR" b="1" dirty="0" err="1" smtClean="0"/>
              <a:t>msgcatalog</a:t>
            </a:r>
            <a:r>
              <a:rPr lang="fr-FR" dirty="0" smtClean="0"/>
              <a:t>, </a:t>
            </a:r>
            <a:r>
              <a:rPr lang="fr-FR" dirty="0" err="1" smtClean="0"/>
              <a:t>containing</a:t>
            </a:r>
            <a:r>
              <a:rPr lang="fr-FR" dirty="0" smtClean="0"/>
              <a:t> traduction files.</a:t>
            </a:r>
          </a:p>
          <a:p>
            <a:pPr lvl="3"/>
            <a:r>
              <a:rPr lang="fr-FR" b="1" dirty="0" err="1" smtClean="0"/>
              <a:t>knowledge</a:t>
            </a:r>
            <a:r>
              <a:rPr lang="fr-FR" b="1" dirty="0" smtClean="0"/>
              <a:t>\scripts</a:t>
            </a:r>
            <a:r>
              <a:rPr lang="fr-FR" dirty="0" smtClean="0"/>
              <a:t>, </a:t>
            </a:r>
            <a:r>
              <a:rPr lang="fr-FR" dirty="0" err="1" smtClean="0"/>
              <a:t>containing</a:t>
            </a:r>
            <a:r>
              <a:rPr lang="fr-FR" dirty="0" smtClean="0"/>
              <a:t> the </a:t>
            </a:r>
            <a:r>
              <a:rPr lang="fr-FR" dirty="0" err="1" smtClean="0"/>
              <a:t>rule</a:t>
            </a:r>
            <a:r>
              <a:rPr lang="fr-FR" dirty="0" err="1"/>
              <a:t>s</a:t>
            </a:r>
            <a:r>
              <a:rPr lang="fr-FR" dirty="0" smtClean="0"/>
              <a:t> files.</a:t>
            </a:r>
          </a:p>
          <a:p>
            <a:pPr lvl="3"/>
            <a:r>
              <a:rPr lang="fr-FR" b="1" dirty="0" err="1"/>
              <a:t>p</a:t>
            </a:r>
            <a:r>
              <a:rPr lang="fr-FR" b="1" dirty="0" err="1" smtClean="0"/>
              <a:t>lmcompass</a:t>
            </a:r>
            <a:r>
              <a:rPr lang="fr-FR" dirty="0" smtClean="0"/>
              <a:t>, structure of </a:t>
            </a:r>
            <a:r>
              <a:rPr lang="fr-FR" dirty="0" err="1" smtClean="0"/>
              <a:t>folder</a:t>
            </a:r>
            <a:r>
              <a:rPr lang="fr-FR" dirty="0" smtClean="0"/>
              <a:t> </a:t>
            </a:r>
            <a:r>
              <a:rPr lang="fr-FR" dirty="0" err="1" smtClean="0"/>
              <a:t>containing</a:t>
            </a:r>
            <a:r>
              <a:rPr lang="fr-FR" dirty="0" smtClean="0"/>
              <a:t> </a:t>
            </a:r>
            <a:r>
              <a:rPr lang="fr-FR" dirty="0" err="1" smtClean="0"/>
              <a:t>resource</a:t>
            </a:r>
            <a:r>
              <a:rPr lang="fr-FR" dirty="0" smtClean="0"/>
              <a:t> files.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Customize B.I. Essentials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349" y="4859749"/>
            <a:ext cx="1381318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6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6" y="1002538"/>
            <a:ext cx="8949758" cy="2091792"/>
          </a:xfrm>
        </p:spPr>
        <p:txBody>
          <a:bodyPr>
            <a:normAutofit fontScale="85000" lnSpcReduction="1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Folder </a:t>
            </a:r>
            <a:r>
              <a:rPr lang="en-US" dirty="0" err="1" smtClean="0"/>
              <a:t>plmcompass</a:t>
            </a:r>
            <a:r>
              <a:rPr lang="en-US" dirty="0" smtClean="0"/>
              <a:t> - Structure</a:t>
            </a:r>
          </a:p>
          <a:p>
            <a:pPr lvl="2"/>
            <a:r>
              <a:rPr lang="fr-FR" dirty="0" smtClean="0"/>
              <a:t>The </a:t>
            </a:r>
            <a:r>
              <a:rPr lang="fr-FR" dirty="0" err="1" smtClean="0"/>
              <a:t>resources</a:t>
            </a:r>
            <a:r>
              <a:rPr lang="fr-FR" dirty="0" smtClean="0"/>
              <a:t> files are </a:t>
            </a:r>
            <a:r>
              <a:rPr lang="fr-FR" dirty="0" err="1" smtClean="0"/>
              <a:t>localized</a:t>
            </a:r>
            <a:r>
              <a:rPr lang="fr-FR" dirty="0" smtClean="0"/>
              <a:t> in </a:t>
            </a:r>
            <a:r>
              <a:rPr lang="fr-FR" dirty="0" err="1" smtClean="0"/>
              <a:t>subfolders</a:t>
            </a:r>
            <a:r>
              <a:rPr lang="fr-FR" dirty="0" smtClean="0"/>
              <a:t> of </a:t>
            </a:r>
            <a:r>
              <a:rPr lang="fr-FR" dirty="0" err="1" smtClean="0"/>
              <a:t>plmcompass</a:t>
            </a:r>
            <a:r>
              <a:rPr lang="fr-FR" dirty="0" smtClean="0"/>
              <a:t> </a:t>
            </a:r>
            <a:r>
              <a:rPr lang="fr-FR" dirty="0" err="1" smtClean="0"/>
              <a:t>folder</a:t>
            </a:r>
            <a:r>
              <a:rPr lang="fr-FR" dirty="0" smtClean="0"/>
              <a:t>.</a:t>
            </a:r>
          </a:p>
          <a:p>
            <a:pPr lvl="2"/>
            <a:r>
              <a:rPr lang="fr-FR" dirty="0" smtClean="0"/>
              <a:t>Structure: a </a:t>
            </a:r>
            <a:r>
              <a:rPr lang="fr-FR" dirty="0" err="1" smtClean="0"/>
              <a:t>folder</a:t>
            </a:r>
            <a:r>
              <a:rPr lang="fr-FR" dirty="0" smtClean="0"/>
              <a:t> by provider, </a:t>
            </a:r>
            <a:r>
              <a:rPr lang="fr-FR" dirty="0" err="1" smtClean="0"/>
              <a:t>then</a:t>
            </a:r>
            <a:r>
              <a:rPr lang="fr-FR" dirty="0" smtClean="0"/>
              <a:t> for </a:t>
            </a:r>
            <a:r>
              <a:rPr lang="fr-FR" dirty="0" err="1" smtClean="0"/>
              <a:t>each</a:t>
            </a:r>
            <a:r>
              <a:rPr lang="fr-FR" dirty="0" smtClean="0"/>
              <a:t>, a </a:t>
            </a:r>
            <a:r>
              <a:rPr lang="fr-FR" dirty="0" err="1" smtClean="0"/>
              <a:t>folder</a:t>
            </a:r>
            <a:r>
              <a:rPr lang="fr-FR" dirty="0" smtClean="0"/>
              <a:t> by </a:t>
            </a:r>
            <a:r>
              <a:rPr lang="fr-FR" dirty="0" err="1" smtClean="0"/>
              <a:t>role</a:t>
            </a:r>
            <a:r>
              <a:rPr lang="fr-FR" dirty="0" smtClean="0"/>
              <a:t> / </a:t>
            </a:r>
            <a:r>
              <a:rPr lang="fr-FR" dirty="0" err="1" smtClean="0"/>
              <a:t>security</a:t>
            </a:r>
            <a:r>
              <a:rPr lang="fr-FR" dirty="0" smtClean="0"/>
              <a:t> </a:t>
            </a:r>
            <a:r>
              <a:rPr lang="fr-FR" dirty="0" err="1" smtClean="0"/>
              <a:t>context</a:t>
            </a:r>
            <a:r>
              <a:rPr lang="fr-FR" dirty="0" smtClean="0"/>
              <a:t>.</a:t>
            </a:r>
          </a:p>
          <a:p>
            <a:pPr lvl="2"/>
            <a:r>
              <a:rPr lang="fr-FR" dirty="0" smtClean="0"/>
              <a:t>If the </a:t>
            </a:r>
            <a:r>
              <a:rPr lang="fr-FR" dirty="0" err="1" smtClean="0"/>
              <a:t>folder</a:t>
            </a:r>
            <a:r>
              <a:rPr lang="fr-FR" dirty="0" smtClean="0"/>
              <a:t> </a:t>
            </a:r>
            <a:r>
              <a:rPr lang="fr-FR" dirty="0" err="1" smtClean="0"/>
              <a:t>corresponding</a:t>
            </a:r>
            <a:r>
              <a:rPr lang="fr-FR" dirty="0" smtClean="0"/>
              <a:t> to </a:t>
            </a:r>
            <a:r>
              <a:rPr lang="fr-FR" dirty="0" err="1" smtClean="0"/>
              <a:t>connected</a:t>
            </a:r>
            <a:r>
              <a:rPr lang="fr-FR" dirty="0" smtClean="0"/>
              <a:t> user </a:t>
            </a:r>
            <a:r>
              <a:rPr lang="fr-FR" dirty="0" err="1" smtClean="0"/>
              <a:t>role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not </a:t>
            </a:r>
            <a:r>
              <a:rPr lang="fr-FR" dirty="0" err="1" smtClean="0"/>
              <a:t>defined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use the </a:t>
            </a:r>
            <a:r>
              <a:rPr lang="fr-FR" dirty="0" err="1" smtClean="0"/>
              <a:t>resources</a:t>
            </a:r>
            <a:r>
              <a:rPr lang="fr-FR" dirty="0" smtClean="0"/>
              <a:t> files </a:t>
            </a:r>
            <a:r>
              <a:rPr lang="fr-FR" dirty="0" err="1" smtClean="0"/>
              <a:t>defined</a:t>
            </a:r>
            <a:r>
              <a:rPr lang="fr-FR" dirty="0" smtClean="0"/>
              <a:t> </a:t>
            </a:r>
            <a:r>
              <a:rPr lang="fr-FR" dirty="0" err="1" smtClean="0"/>
              <a:t>directly</a:t>
            </a:r>
            <a:r>
              <a:rPr lang="fr-FR" dirty="0" smtClean="0"/>
              <a:t> </a:t>
            </a:r>
            <a:r>
              <a:rPr lang="fr-FR" dirty="0" err="1" smtClean="0"/>
              <a:t>under</a:t>
            </a:r>
            <a:r>
              <a:rPr lang="fr-FR" dirty="0" smtClean="0"/>
              <a:t> provider </a:t>
            </a:r>
            <a:r>
              <a:rPr lang="fr-FR" dirty="0" err="1" smtClean="0"/>
              <a:t>folder</a:t>
            </a:r>
            <a:endParaRPr lang="fr-FR" dirty="0" smtClean="0"/>
          </a:p>
          <a:p>
            <a:pPr lvl="2"/>
            <a:r>
              <a:rPr lang="fr-FR" dirty="0" smtClean="0"/>
              <a:t>In case of VPM the </a:t>
            </a:r>
            <a:r>
              <a:rPr lang="fr-FR" dirty="0" err="1" smtClean="0"/>
              <a:t>resources</a:t>
            </a:r>
            <a:r>
              <a:rPr lang="fr-FR" dirty="0" smtClean="0"/>
              <a:t> files are </a:t>
            </a:r>
            <a:r>
              <a:rPr lang="fr-FR" dirty="0" err="1" smtClean="0"/>
              <a:t>taken</a:t>
            </a:r>
            <a:r>
              <a:rPr lang="fr-FR" dirty="0" smtClean="0"/>
              <a:t> in VPM </a:t>
            </a:r>
            <a:r>
              <a:rPr lang="fr-FR" dirty="0" err="1" smtClean="0"/>
              <a:t>folder</a:t>
            </a:r>
            <a:r>
              <a:rPr lang="fr-FR" dirty="0" smtClean="0"/>
              <a:t> (the </a:t>
            </a:r>
            <a:r>
              <a:rPr lang="fr-FR" dirty="0" err="1" smtClean="0"/>
              <a:t>BICusto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in provider)  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Customize B.I. Essentials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46" y="3528626"/>
            <a:ext cx="4412070" cy="184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4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6" y="1002538"/>
            <a:ext cx="9096062" cy="2347824"/>
          </a:xfrm>
        </p:spPr>
        <p:txBody>
          <a:bodyPr>
            <a:normAutofit fontScale="62500" lnSpcReduction="2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err="1" smtClean="0"/>
              <a:t>BICusto.CATRsc</a:t>
            </a:r>
            <a:r>
              <a:rPr lang="en-US" dirty="0" smtClean="0"/>
              <a:t> – the declaration file</a:t>
            </a:r>
          </a:p>
          <a:p>
            <a:pPr lvl="2"/>
            <a:r>
              <a:rPr lang="fr-FR" dirty="0" smtClean="0"/>
              <a:t>The </a:t>
            </a:r>
            <a:r>
              <a:rPr lang="fr-FR" dirty="0" err="1" smtClean="0"/>
              <a:t>BICusto</a:t>
            </a:r>
            <a:r>
              <a:rPr lang="fr-FR" dirty="0" smtClean="0"/>
              <a:t> </a:t>
            </a:r>
            <a:r>
              <a:rPr lang="fr-FR" dirty="0" err="1" smtClean="0"/>
              <a:t>resource</a:t>
            </a:r>
            <a:r>
              <a:rPr lang="fr-FR" dirty="0" smtClean="0"/>
              <a:t> file </a:t>
            </a:r>
            <a:r>
              <a:rPr lang="fr-FR" dirty="0" err="1" smtClean="0"/>
              <a:t>contains</a:t>
            </a:r>
            <a:r>
              <a:rPr lang="fr-FR" dirty="0" smtClean="0"/>
              <a:t> the </a:t>
            </a:r>
            <a:r>
              <a:rPr lang="fr-FR" dirty="0" err="1" smtClean="0"/>
              <a:t>declaration</a:t>
            </a:r>
            <a:r>
              <a:rPr lang="fr-FR" dirty="0" smtClean="0"/>
              <a:t> of </a:t>
            </a:r>
            <a:r>
              <a:rPr lang="fr-FR" dirty="0" err="1" smtClean="0"/>
              <a:t>customized</a:t>
            </a:r>
            <a:r>
              <a:rPr lang="fr-FR" dirty="0" smtClean="0"/>
              <a:t> BI.</a:t>
            </a:r>
          </a:p>
          <a:p>
            <a:pPr lvl="2"/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file </a:t>
            </a:r>
            <a:r>
              <a:rPr lang="fr-FR" dirty="0" err="1" smtClean="0"/>
              <a:t>can</a:t>
            </a:r>
            <a:r>
              <a:rPr lang="fr-FR" dirty="0" smtClean="0"/>
              <a:t> not </a:t>
            </a:r>
            <a:r>
              <a:rPr lang="fr-FR" dirty="0" err="1" smtClean="0"/>
              <a:t>be</a:t>
            </a:r>
            <a:r>
              <a:rPr lang="fr-FR" dirty="0" smtClean="0"/>
              <a:t> change.</a:t>
            </a:r>
          </a:p>
          <a:p>
            <a:pPr lvl="2"/>
            <a:r>
              <a:rPr lang="fr-FR" dirty="0" err="1" smtClean="0"/>
              <a:t>Contains</a:t>
            </a:r>
            <a:r>
              <a:rPr lang="fr-FR" dirty="0" smtClean="0"/>
              <a:t> one line by </a:t>
            </a:r>
            <a:r>
              <a:rPr lang="fr-FR" dirty="0" err="1" smtClean="0"/>
              <a:t>customized</a:t>
            </a:r>
            <a:r>
              <a:rPr lang="fr-FR" dirty="0" smtClean="0"/>
              <a:t> BI. </a:t>
            </a:r>
          </a:p>
          <a:p>
            <a:pPr lvl="2"/>
            <a:r>
              <a:rPr lang="fr-FR" dirty="0" smtClean="0"/>
              <a:t>Line format: &lt;BI ID&gt;.Scope="ALL"</a:t>
            </a:r>
          </a:p>
          <a:p>
            <a:pPr lvl="2"/>
            <a:r>
              <a:rPr lang="fr-FR" dirty="0" smtClean="0"/>
              <a:t>Line </a:t>
            </a:r>
            <a:r>
              <a:rPr lang="fr-FR" dirty="0" err="1" smtClean="0"/>
              <a:t>example</a:t>
            </a:r>
            <a:r>
              <a:rPr lang="fr-FR" dirty="0" smtClean="0"/>
              <a:t>: </a:t>
            </a:r>
            <a:r>
              <a:rPr lang="fr-FR" dirty="0" err="1" smtClean="0"/>
              <a:t>LCA_BI_Test.Scope</a:t>
            </a:r>
            <a:r>
              <a:rPr lang="fr-FR" dirty="0" smtClean="0"/>
              <a:t>="ALL"</a:t>
            </a:r>
          </a:p>
          <a:p>
            <a:pPr lvl="2"/>
            <a:r>
              <a:rPr lang="fr-FR" dirty="0" smtClean="0"/>
              <a:t>Once the file </a:t>
            </a:r>
            <a:r>
              <a:rPr lang="fr-FR" dirty="0" err="1" smtClean="0"/>
              <a:t>is</a:t>
            </a:r>
            <a:r>
              <a:rPr lang="fr-FR" dirty="0"/>
              <a:t> </a:t>
            </a:r>
            <a:r>
              <a:rPr lang="fr-FR" dirty="0" err="1" smtClean="0"/>
              <a:t>correctly</a:t>
            </a:r>
            <a:r>
              <a:rPr lang="fr-FR" dirty="0" smtClean="0"/>
              <a:t> </a:t>
            </a:r>
            <a:r>
              <a:rPr lang="fr-FR" dirty="0" err="1" smtClean="0"/>
              <a:t>defined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the BI in the drop-down </a:t>
            </a:r>
            <a:r>
              <a:rPr lang="fr-FR" dirty="0" err="1" smtClean="0"/>
              <a:t>list</a:t>
            </a:r>
            <a:r>
              <a:rPr lang="fr-FR" dirty="0" smtClean="0"/>
              <a:t>.</a:t>
            </a:r>
          </a:p>
          <a:p>
            <a:pPr lvl="2"/>
            <a:endParaRPr lang="fr-FR" dirty="0"/>
          </a:p>
          <a:p>
            <a:pPr lvl="2"/>
            <a:r>
              <a:rPr lang="fr-FR" dirty="0" smtClean="0"/>
              <a:t>(For </a:t>
            </a:r>
            <a:r>
              <a:rPr lang="fr-FR" dirty="0" err="1" smtClean="0"/>
              <a:t>retrieve</a:t>
            </a:r>
            <a:r>
              <a:rPr lang="fr-FR" dirty="0" smtClean="0"/>
              <a:t> the </a:t>
            </a:r>
            <a:r>
              <a:rPr lang="fr-FR" dirty="0" err="1" smtClean="0"/>
              <a:t>root</a:t>
            </a:r>
            <a:r>
              <a:rPr lang="fr-FR" dirty="0" smtClean="0"/>
              <a:t> directory of </a:t>
            </a:r>
            <a:r>
              <a:rPr lang="fr-FR" dirty="0" err="1" smtClean="0"/>
              <a:t>resource</a:t>
            </a:r>
            <a:r>
              <a:rPr lang="fr-FR" dirty="0" smtClean="0"/>
              <a:t> </a:t>
            </a:r>
            <a:r>
              <a:rPr lang="fr-FR" dirty="0" err="1" smtClean="0"/>
              <a:t>folder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B.I. Essentials </a:t>
            </a:r>
            <a:r>
              <a:rPr lang="fr-FR" dirty="0" err="1" smtClean="0"/>
              <a:t>Checker</a:t>
            </a:r>
            <a:r>
              <a:rPr lang="fr-FR" dirty="0" smtClean="0"/>
              <a:t> in Tips section)</a:t>
            </a:r>
          </a:p>
          <a:p>
            <a:pPr lvl="2"/>
            <a:endParaRPr lang="fr-FR" dirty="0" smtClean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Customize B.I. Essentials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9404" y="1380743"/>
            <a:ext cx="3153215" cy="235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9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5" y="1002537"/>
            <a:ext cx="9483767" cy="5405578"/>
          </a:xfrm>
        </p:spPr>
        <p:txBody>
          <a:bodyPr>
            <a:normAutofit fontScale="85000" lnSpcReduction="1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/>
              <a:t>The BI definition file</a:t>
            </a:r>
          </a:p>
          <a:p>
            <a:pPr lvl="2"/>
            <a:r>
              <a:rPr lang="fr-FR" dirty="0"/>
              <a:t>One file by BI</a:t>
            </a:r>
          </a:p>
          <a:p>
            <a:pPr lvl="2"/>
            <a:r>
              <a:rPr lang="fr-FR" dirty="0"/>
              <a:t>The </a:t>
            </a:r>
            <a:r>
              <a:rPr lang="fr-FR" dirty="0" err="1"/>
              <a:t>name</a:t>
            </a:r>
            <a:r>
              <a:rPr lang="fr-FR" dirty="0"/>
              <a:t> file must </a:t>
            </a:r>
            <a:r>
              <a:rPr lang="fr-FR" dirty="0" err="1"/>
              <a:t>be</a:t>
            </a:r>
            <a:r>
              <a:rPr lang="fr-FR" dirty="0"/>
              <a:t> &lt;BI ID&gt;.</a:t>
            </a:r>
            <a:r>
              <a:rPr lang="fr-FR" dirty="0" err="1"/>
              <a:t>CATRsc</a:t>
            </a:r>
            <a:r>
              <a:rPr lang="fr-FR" dirty="0"/>
              <a:t>.</a:t>
            </a:r>
          </a:p>
          <a:p>
            <a:pPr lvl="2"/>
            <a:r>
              <a:rPr lang="fr-FR" dirty="0"/>
              <a:t>The content of file </a:t>
            </a:r>
            <a:r>
              <a:rPr lang="fr-FR" dirty="0" err="1"/>
              <a:t>define</a:t>
            </a:r>
            <a:r>
              <a:rPr lang="fr-FR" dirty="0"/>
              <a:t> the BI in few </a:t>
            </a:r>
            <a:r>
              <a:rPr lang="fr-FR" dirty="0" err="1"/>
              <a:t>properties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following</a:t>
            </a:r>
            <a:r>
              <a:rPr lang="fr-FR" dirty="0"/>
              <a:t> key:</a:t>
            </a:r>
          </a:p>
          <a:p>
            <a:pPr lvl="3"/>
            <a:r>
              <a:rPr lang="fr-FR" dirty="0" err="1"/>
              <a:t>LegendNlsFile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The </a:t>
            </a:r>
            <a:r>
              <a:rPr lang="fr-FR" dirty="0" err="1">
                <a:sym typeface="Wingdings" panose="05000000000000000000" pitchFamily="2" charset="2"/>
              </a:rPr>
              <a:t>name</a:t>
            </a:r>
            <a:r>
              <a:rPr lang="fr-FR" dirty="0">
                <a:sym typeface="Wingdings" panose="05000000000000000000" pitchFamily="2" charset="2"/>
              </a:rPr>
              <a:t> of </a:t>
            </a:r>
            <a:r>
              <a:rPr lang="fr-FR" dirty="0" err="1">
                <a:sym typeface="Wingdings" panose="05000000000000000000" pitchFamily="2" charset="2"/>
              </a:rPr>
              <a:t>CATNls</a:t>
            </a:r>
            <a:r>
              <a:rPr lang="fr-FR" dirty="0">
                <a:sym typeface="Wingdings" panose="05000000000000000000" pitchFamily="2" charset="2"/>
              </a:rPr>
              <a:t> file, </a:t>
            </a:r>
            <a:r>
              <a:rPr lang="fr-FR" dirty="0" err="1">
                <a:sym typeface="Wingdings" panose="05000000000000000000" pitchFamily="2" charset="2"/>
              </a:rPr>
              <a:t>containing</a:t>
            </a:r>
            <a:r>
              <a:rPr lang="fr-FR" dirty="0">
                <a:sym typeface="Wingdings" panose="05000000000000000000" pitchFamily="2" charset="2"/>
              </a:rPr>
              <a:t> the traduction.</a:t>
            </a: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ColorRscFile</a:t>
            </a:r>
            <a:r>
              <a:rPr lang="fr-FR" dirty="0">
                <a:sym typeface="Wingdings" panose="05000000000000000000" pitchFamily="2" charset="2"/>
              </a:rPr>
              <a:t>  The </a:t>
            </a:r>
            <a:r>
              <a:rPr lang="fr-FR" dirty="0" err="1">
                <a:sym typeface="Wingdings" panose="05000000000000000000" pitchFamily="2" charset="2"/>
              </a:rPr>
              <a:t>name</a:t>
            </a:r>
            <a:r>
              <a:rPr lang="fr-FR" dirty="0">
                <a:sym typeface="Wingdings" panose="05000000000000000000" pitchFamily="2" charset="2"/>
              </a:rPr>
              <a:t> of </a:t>
            </a:r>
            <a:r>
              <a:rPr lang="fr-FR" dirty="0" err="1">
                <a:sym typeface="Wingdings" panose="05000000000000000000" pitchFamily="2" charset="2"/>
              </a:rPr>
              <a:t>resource</a:t>
            </a:r>
            <a:r>
              <a:rPr lang="fr-FR" dirty="0">
                <a:sym typeface="Wingdings" panose="05000000000000000000" pitchFamily="2" charset="2"/>
              </a:rPr>
              <a:t> file </a:t>
            </a:r>
            <a:r>
              <a:rPr lang="fr-FR" dirty="0" err="1">
                <a:sym typeface="Wingdings" panose="05000000000000000000" pitchFamily="2" charset="2"/>
              </a:rPr>
              <a:t>containing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definition</a:t>
            </a:r>
            <a:r>
              <a:rPr lang="fr-FR" dirty="0">
                <a:sym typeface="Wingdings" panose="05000000000000000000" pitchFamily="2" charset="2"/>
              </a:rPr>
              <a:t> of </a:t>
            </a:r>
            <a:r>
              <a:rPr lang="fr-FR" dirty="0" err="1">
                <a:sym typeface="Wingdings" panose="05000000000000000000" pitchFamily="2" charset="2"/>
              </a:rPr>
              <a:t>color</a:t>
            </a:r>
            <a:r>
              <a:rPr lang="fr-FR" dirty="0">
                <a:sym typeface="Wingdings" panose="05000000000000000000" pitchFamily="2" charset="2"/>
              </a:rPr>
              <a:t>.</a:t>
            </a: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TypeRuleDefinitionFile</a:t>
            </a:r>
            <a:r>
              <a:rPr lang="fr-FR" dirty="0">
                <a:sym typeface="Wingdings" panose="05000000000000000000" pitchFamily="2" charset="2"/>
              </a:rPr>
              <a:t>  The </a:t>
            </a:r>
            <a:r>
              <a:rPr lang="fr-FR" dirty="0" err="1">
                <a:sym typeface="Wingdings" panose="05000000000000000000" pitchFamily="2" charset="2"/>
              </a:rPr>
              <a:t>name</a:t>
            </a:r>
            <a:r>
              <a:rPr lang="fr-FR" dirty="0">
                <a:sym typeface="Wingdings" panose="05000000000000000000" pitchFamily="2" charset="2"/>
              </a:rPr>
              <a:t> of </a:t>
            </a:r>
            <a:r>
              <a:rPr lang="fr-FR" dirty="0" err="1">
                <a:sym typeface="Wingdings" panose="05000000000000000000" pitchFamily="2" charset="2"/>
              </a:rPr>
              <a:t>resource</a:t>
            </a:r>
            <a:r>
              <a:rPr lang="fr-FR" dirty="0">
                <a:sym typeface="Wingdings" panose="05000000000000000000" pitchFamily="2" charset="2"/>
              </a:rPr>
              <a:t> file </a:t>
            </a:r>
            <a:r>
              <a:rPr lang="fr-FR" dirty="0" err="1">
                <a:sym typeface="Wingdings" panose="05000000000000000000" pitchFamily="2" charset="2"/>
              </a:rPr>
              <a:t>containing</a:t>
            </a:r>
            <a:r>
              <a:rPr lang="fr-FR" dirty="0">
                <a:sym typeface="Wingdings" panose="05000000000000000000" pitchFamily="2" charset="2"/>
              </a:rPr>
              <a:t>  the </a:t>
            </a:r>
            <a:r>
              <a:rPr lang="fr-FR" dirty="0" err="1">
                <a:sym typeface="Wingdings" panose="05000000000000000000" pitchFamily="2" charset="2"/>
              </a:rPr>
              <a:t>mapping</a:t>
            </a:r>
            <a:r>
              <a:rPr lang="fr-FR" dirty="0">
                <a:sym typeface="Wingdings" panose="05000000000000000000" pitchFamily="2" charset="2"/>
              </a:rPr>
              <a:t> of type to </a:t>
            </a:r>
            <a:r>
              <a:rPr lang="fr-FR" dirty="0" err="1">
                <a:sym typeface="Wingdings" panose="05000000000000000000" pitchFamily="2" charset="2"/>
              </a:rPr>
              <a:t>rule</a:t>
            </a:r>
            <a:r>
              <a:rPr lang="fr-FR" dirty="0">
                <a:sym typeface="Wingdings" panose="05000000000000000000" pitchFamily="2" charset="2"/>
              </a:rPr>
              <a:t> (for </a:t>
            </a:r>
            <a:r>
              <a:rPr lang="fr-FR" dirty="0" err="1">
                <a:sym typeface="Wingdings" panose="05000000000000000000" pitchFamily="2" charset="2"/>
              </a:rPr>
              <a:t>color</a:t>
            </a:r>
            <a:r>
              <a:rPr lang="fr-FR" dirty="0">
                <a:sym typeface="Wingdings" panose="05000000000000000000" pitchFamily="2" charset="2"/>
              </a:rPr>
              <a:t> and label)</a:t>
            </a:r>
          </a:p>
          <a:p>
            <a:pPr lvl="3"/>
            <a:r>
              <a:rPr lang="fr-FR" dirty="0"/>
              <a:t>Version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Define</a:t>
            </a:r>
            <a:r>
              <a:rPr lang="fr-FR" dirty="0">
                <a:sym typeface="Wingdings" panose="05000000000000000000" pitchFamily="2" charset="2"/>
              </a:rPr>
              <a:t> the </a:t>
            </a:r>
            <a:r>
              <a:rPr lang="fr-FR" dirty="0" err="1">
                <a:sym typeface="Wingdings" panose="05000000000000000000" pitchFamily="2" charset="2"/>
              </a:rPr>
              <a:t>level</a:t>
            </a:r>
            <a:r>
              <a:rPr lang="fr-FR" dirty="0">
                <a:sym typeface="Wingdings" panose="05000000000000000000" pitchFamily="2" charset="2"/>
              </a:rPr>
              <a:t> of type "</a:t>
            </a:r>
            <a:r>
              <a:rPr lang="fr-FR" dirty="0" err="1">
                <a:sym typeface="Wingdings" panose="05000000000000000000" pitchFamily="2" charset="2"/>
              </a:rPr>
              <a:t>ThisObject</a:t>
            </a:r>
            <a:r>
              <a:rPr lang="fr-FR" dirty="0">
                <a:sym typeface="Wingdings" panose="05000000000000000000" pitchFamily="2" charset="2"/>
              </a:rPr>
              <a:t>" </a:t>
            </a:r>
            <a:r>
              <a:rPr lang="fr-FR" dirty="0" err="1">
                <a:sym typeface="Wingdings" panose="05000000000000000000" pitchFamily="2" charset="2"/>
              </a:rPr>
              <a:t>can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be</a:t>
            </a:r>
            <a:r>
              <a:rPr lang="fr-FR" dirty="0">
                <a:sym typeface="Wingdings" panose="05000000000000000000" pitchFamily="2" charset="2"/>
              </a:rPr>
              <a:t> in </a:t>
            </a:r>
            <a:r>
              <a:rPr lang="fr-FR" dirty="0" err="1">
                <a:sym typeface="Wingdings" panose="05000000000000000000" pitchFamily="2" charset="2"/>
              </a:rPr>
              <a:t>rule</a:t>
            </a:r>
            <a:r>
              <a:rPr lang="fr-FR">
                <a:sym typeface="Wingdings" panose="05000000000000000000" pitchFamily="2" charset="2"/>
              </a:rPr>
              <a:t>. </a:t>
            </a:r>
            <a:r>
              <a:rPr lang="fr-FR" b="1" dirty="0">
                <a:sym typeface="Wingdings" panose="05000000000000000000" pitchFamily="2" charset="2"/>
              </a:rPr>
              <a:t>1</a:t>
            </a:r>
            <a:r>
              <a:rPr lang="fr-FR">
                <a:sym typeface="Wingdings" panose="05000000000000000000" pitchFamily="2" charset="2"/>
              </a:rPr>
              <a:t> for Reference, </a:t>
            </a:r>
            <a:r>
              <a:rPr lang="fr-FR" b="1">
                <a:sym typeface="Wingdings" panose="05000000000000000000" pitchFamily="2" charset="2"/>
              </a:rPr>
              <a:t>2</a:t>
            </a:r>
            <a:r>
              <a:rPr lang="fr-FR">
                <a:sym typeface="Wingdings" panose="05000000000000000000" pitchFamily="2" charset="2"/>
              </a:rPr>
              <a:t> for Instance, </a:t>
            </a:r>
            <a:r>
              <a:rPr lang="fr-FR" b="1">
                <a:sym typeface="Wingdings" panose="05000000000000000000" pitchFamily="2" charset="2"/>
              </a:rPr>
              <a:t>3</a:t>
            </a:r>
            <a:r>
              <a:rPr lang="fr-FR">
                <a:sym typeface="Wingdings" panose="05000000000000000000" pitchFamily="2" charset="2"/>
              </a:rPr>
              <a:t> </a:t>
            </a:r>
            <a:r>
              <a:rPr lang="fr-FR" dirty="0">
                <a:sym typeface="Wingdings" panose="05000000000000000000" pitchFamily="2" charset="2"/>
              </a:rPr>
              <a:t>for occurrence.</a:t>
            </a:r>
          </a:p>
          <a:p>
            <a:pPr lvl="3"/>
            <a:r>
              <a:rPr lang="fr-FR" dirty="0" err="1"/>
              <a:t>NumberOfColors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Define</a:t>
            </a:r>
            <a:r>
              <a:rPr lang="fr-FR" dirty="0">
                <a:sym typeface="Wingdings" panose="05000000000000000000" pitchFamily="2" charset="2"/>
              </a:rPr>
              <a:t> the </a:t>
            </a:r>
            <a:r>
              <a:rPr lang="fr-FR" dirty="0" err="1">
                <a:sym typeface="Wingdings" panose="05000000000000000000" pitchFamily="2" charset="2"/>
              </a:rPr>
              <a:t>number</a:t>
            </a:r>
            <a:r>
              <a:rPr lang="fr-FR" dirty="0">
                <a:sym typeface="Wingdings" panose="05000000000000000000" pitchFamily="2" charset="2"/>
              </a:rPr>
              <a:t> of case for </a:t>
            </a:r>
            <a:r>
              <a:rPr lang="fr-FR" dirty="0" err="1">
                <a:sym typeface="Wingdings" panose="05000000000000000000" pitchFamily="2" charset="2"/>
              </a:rPr>
              <a:t>this</a:t>
            </a:r>
            <a:r>
              <a:rPr lang="fr-FR" dirty="0">
                <a:sym typeface="Wingdings" panose="05000000000000000000" pitchFamily="2" charset="2"/>
              </a:rPr>
              <a:t> BI.</a:t>
            </a:r>
          </a:p>
          <a:p>
            <a:pPr lvl="3"/>
            <a:r>
              <a:rPr lang="fr-FR" dirty="0" err="1"/>
              <a:t>LegendId</a:t>
            </a:r>
            <a:r>
              <a:rPr lang="fr-FR" b="1" dirty="0" err="1"/>
              <a:t>X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Define</a:t>
            </a:r>
            <a:r>
              <a:rPr lang="fr-FR" dirty="0">
                <a:sym typeface="Wingdings" panose="05000000000000000000" pitchFamily="2" charset="2"/>
              </a:rPr>
              <a:t> the </a:t>
            </a:r>
            <a:r>
              <a:rPr lang="fr-FR" dirty="0" err="1">
                <a:sym typeface="Wingdings" panose="05000000000000000000" pitchFamily="2" charset="2"/>
              </a:rPr>
              <a:t>technical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name</a:t>
            </a:r>
            <a:r>
              <a:rPr lang="fr-FR" dirty="0">
                <a:sym typeface="Wingdings" panose="05000000000000000000" pitchFamily="2" charset="2"/>
              </a:rPr>
              <a:t> of a case (X </a:t>
            </a:r>
            <a:r>
              <a:rPr lang="fr-FR" dirty="0" err="1">
                <a:sym typeface="Wingdings" panose="05000000000000000000" pitchFamily="2" charset="2"/>
              </a:rPr>
              <a:t>between</a:t>
            </a:r>
            <a:r>
              <a:rPr lang="fr-FR" dirty="0">
                <a:sym typeface="Wingdings" panose="05000000000000000000" pitchFamily="2" charset="2"/>
              </a:rPr>
              <a:t> 1 and </a:t>
            </a:r>
            <a:r>
              <a:rPr lang="fr-FR" dirty="0" err="1">
                <a:sym typeface="Wingdings" panose="05000000000000000000" pitchFamily="2" charset="2"/>
              </a:rPr>
              <a:t>NumberOfColors</a:t>
            </a:r>
            <a:r>
              <a:rPr lang="fr-FR" dirty="0">
                <a:sym typeface="Wingdings" panose="05000000000000000000" pitchFamily="2" charset="2"/>
              </a:rPr>
              <a:t>).</a:t>
            </a: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ColorId</a:t>
            </a:r>
            <a:r>
              <a:rPr lang="fr-FR" b="1" dirty="0" err="1">
                <a:sym typeface="Wingdings" panose="05000000000000000000" pitchFamily="2" charset="2"/>
              </a:rPr>
              <a:t>X</a:t>
            </a:r>
            <a:r>
              <a:rPr lang="fr-FR" dirty="0">
                <a:sym typeface="Wingdings" panose="05000000000000000000" pitchFamily="2" charset="2"/>
              </a:rPr>
              <a:t>  </a:t>
            </a:r>
            <a:r>
              <a:rPr lang="fr-FR" dirty="0" err="1">
                <a:sym typeface="Wingdings" panose="05000000000000000000" pitchFamily="2" charset="2"/>
              </a:rPr>
              <a:t>Define</a:t>
            </a:r>
            <a:r>
              <a:rPr lang="fr-FR" dirty="0">
                <a:sym typeface="Wingdings" panose="05000000000000000000" pitchFamily="2" charset="2"/>
              </a:rPr>
              <a:t> the </a:t>
            </a:r>
            <a:r>
              <a:rPr lang="fr-FR" dirty="0" err="1">
                <a:sym typeface="Wingdings" panose="05000000000000000000" pitchFamily="2" charset="2"/>
              </a:rPr>
              <a:t>color</a:t>
            </a:r>
            <a:r>
              <a:rPr lang="fr-FR" dirty="0">
                <a:sym typeface="Wingdings" panose="05000000000000000000" pitchFamily="2" charset="2"/>
              </a:rPr>
              <a:t> of a case (X </a:t>
            </a:r>
            <a:r>
              <a:rPr lang="fr-FR" dirty="0" err="1">
                <a:sym typeface="Wingdings" panose="05000000000000000000" pitchFamily="2" charset="2"/>
              </a:rPr>
              <a:t>between</a:t>
            </a:r>
            <a:r>
              <a:rPr lang="fr-FR" dirty="0">
                <a:sym typeface="Wingdings" panose="05000000000000000000" pitchFamily="2" charset="2"/>
              </a:rPr>
              <a:t> 1 and </a:t>
            </a:r>
            <a:r>
              <a:rPr lang="fr-FR" dirty="0" err="1">
                <a:sym typeface="Wingdings" panose="05000000000000000000" pitchFamily="2" charset="2"/>
              </a:rPr>
              <a:t>NumberOfColors</a:t>
            </a:r>
            <a:r>
              <a:rPr lang="fr-FR" dirty="0">
                <a:sym typeface="Wingdings" panose="05000000000000000000" pitchFamily="2" charset="2"/>
              </a:rPr>
              <a:t>).</a:t>
            </a:r>
          </a:p>
          <a:p>
            <a:pPr lvl="3"/>
            <a:endParaRPr lang="fr-FR" dirty="0"/>
          </a:p>
          <a:p>
            <a:pPr lvl="2"/>
            <a:r>
              <a:rPr lang="fr-FR" sz="1400" i="1" dirty="0" err="1"/>
              <a:t>Example</a:t>
            </a:r>
            <a:r>
              <a:rPr lang="fr-FR" sz="1400" i="1" dirty="0"/>
              <a:t>: </a:t>
            </a:r>
            <a:r>
              <a:rPr lang="fr-FR" sz="1400" i="1" dirty="0" err="1"/>
              <a:t>LCA_BI_Test.CATRsc</a:t>
            </a:r>
            <a:r>
              <a:rPr lang="fr-FR" sz="1400" i="1" dirty="0"/>
              <a:t/>
            </a:r>
            <a:br>
              <a:rPr lang="fr-FR" sz="1400" i="1" dirty="0"/>
            </a:br>
            <a:r>
              <a:rPr lang="fr-FR" sz="1400" i="1" dirty="0"/>
              <a:t>	</a:t>
            </a:r>
            <a:r>
              <a:rPr lang="fr-FR" sz="1400" i="1" dirty="0" err="1"/>
              <a:t>LegendNlsFile</a:t>
            </a:r>
            <a:r>
              <a:rPr lang="fr-FR" sz="1400" i="1" dirty="0"/>
              <a:t>="</a:t>
            </a:r>
            <a:r>
              <a:rPr lang="fr-FR" sz="1400" i="1" dirty="0" err="1"/>
              <a:t>LCABITestNLSFile</a:t>
            </a:r>
            <a:r>
              <a:rPr lang="fr-FR" sz="1400" i="1" dirty="0"/>
              <a:t>";</a:t>
            </a:r>
            <a:br>
              <a:rPr lang="fr-FR" sz="1400" i="1" dirty="0"/>
            </a:br>
            <a:r>
              <a:rPr lang="fr-FR" sz="1400" i="1" dirty="0"/>
              <a:t>	</a:t>
            </a:r>
            <a:r>
              <a:rPr lang="fr-FR" sz="1400" i="1" dirty="0" err="1"/>
              <a:t>ColorRscFile</a:t>
            </a:r>
            <a:r>
              <a:rPr lang="fr-FR" sz="1400" i="1" dirty="0"/>
              <a:t>="</a:t>
            </a:r>
            <a:r>
              <a:rPr lang="fr-FR" sz="1400" i="1" dirty="0" err="1"/>
              <a:t>LCABITestColorFile</a:t>
            </a:r>
            <a:r>
              <a:rPr lang="fr-FR" sz="1400" i="1" dirty="0"/>
              <a:t>";</a:t>
            </a:r>
            <a:br>
              <a:rPr lang="fr-FR" sz="1400" i="1" dirty="0"/>
            </a:br>
            <a:r>
              <a:rPr lang="fr-FR" sz="1400" i="1" dirty="0"/>
              <a:t>	</a:t>
            </a:r>
            <a:r>
              <a:rPr lang="fr-FR" sz="1400" i="1" dirty="0" err="1"/>
              <a:t>TypeRuleDefinitionFile</a:t>
            </a:r>
            <a:r>
              <a:rPr lang="fr-FR" sz="1400" i="1" dirty="0"/>
              <a:t>="</a:t>
            </a:r>
            <a:r>
              <a:rPr lang="fr-FR" sz="1400" i="1" dirty="0" err="1"/>
              <a:t>LCABITest_Ass</a:t>
            </a:r>
            <a:r>
              <a:rPr lang="fr-FR" sz="1400" i="1" dirty="0"/>
              <a:t>";</a:t>
            </a:r>
            <a:br>
              <a:rPr lang="fr-FR" sz="1400" i="1" dirty="0"/>
            </a:br>
            <a:r>
              <a:rPr lang="fr-FR" sz="1400" i="1" dirty="0"/>
              <a:t>	Version="3";</a:t>
            </a:r>
            <a:br>
              <a:rPr lang="fr-FR" sz="1400" i="1" dirty="0"/>
            </a:br>
            <a:r>
              <a:rPr lang="fr-FR" sz="1400" i="1" dirty="0"/>
              <a:t>	</a:t>
            </a:r>
            <a:r>
              <a:rPr lang="fr-FR" sz="1400" i="1" dirty="0" err="1"/>
              <a:t>NumberOfColors</a:t>
            </a:r>
            <a:r>
              <a:rPr lang="fr-FR" sz="1400" i="1" dirty="0"/>
              <a:t>="3";</a:t>
            </a:r>
            <a:br>
              <a:rPr lang="fr-FR" sz="1400" i="1" dirty="0"/>
            </a:br>
            <a:r>
              <a:rPr lang="fr-FR" sz="1400" i="1" dirty="0"/>
              <a:t>	LegendId1="OK";</a:t>
            </a:r>
            <a:br>
              <a:rPr lang="fr-FR" sz="1400" i="1" dirty="0"/>
            </a:br>
            <a:r>
              <a:rPr lang="fr-FR" sz="1400" i="1" dirty="0"/>
              <a:t>	ColorId1="Green";</a:t>
            </a:r>
            <a:br>
              <a:rPr lang="fr-FR" sz="1400" i="1" dirty="0"/>
            </a:br>
            <a:r>
              <a:rPr lang="fr-FR" sz="1400" i="1" dirty="0"/>
              <a:t>	LegendId2="Warning";</a:t>
            </a:r>
            <a:br>
              <a:rPr lang="fr-FR" sz="1400" i="1" dirty="0"/>
            </a:br>
            <a:r>
              <a:rPr lang="fr-FR" sz="1400" i="1" dirty="0"/>
              <a:t>	ColorId2="Orange";</a:t>
            </a:r>
            <a:br>
              <a:rPr lang="fr-FR" sz="1400" i="1" dirty="0"/>
            </a:br>
            <a:r>
              <a:rPr lang="fr-FR" sz="1400" i="1" dirty="0"/>
              <a:t>	LegendId3="KO";</a:t>
            </a:r>
            <a:br>
              <a:rPr lang="fr-FR" sz="1400" i="1" dirty="0"/>
            </a:br>
            <a:r>
              <a:rPr lang="fr-FR" sz="1400" i="1" dirty="0"/>
              <a:t>	ColorId3="</a:t>
            </a:r>
            <a:r>
              <a:rPr lang="fr-FR" sz="1400" i="1" dirty="0" err="1"/>
              <a:t>Red</a:t>
            </a:r>
            <a:r>
              <a:rPr lang="fr-FR" sz="1400" i="1" dirty="0"/>
              <a:t>";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Customize B.I. Essentials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13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6" y="1002537"/>
            <a:ext cx="9455648" cy="3049346"/>
          </a:xfrm>
        </p:spPr>
        <p:txBody>
          <a:bodyPr>
            <a:normAutofit fontScale="85000" lnSpcReduction="2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The BI </a:t>
            </a:r>
            <a:r>
              <a:rPr lang="en-US" dirty="0" err="1" smtClean="0"/>
              <a:t>Traduction</a:t>
            </a:r>
            <a:r>
              <a:rPr lang="en-US" dirty="0" smtClean="0"/>
              <a:t> file</a:t>
            </a:r>
          </a:p>
          <a:p>
            <a:pPr lvl="2"/>
            <a:r>
              <a:rPr lang="fr-FR" dirty="0" err="1" smtClean="0"/>
              <a:t>Contains</a:t>
            </a:r>
            <a:r>
              <a:rPr lang="fr-FR" dirty="0" smtClean="0"/>
              <a:t> the display </a:t>
            </a:r>
            <a:r>
              <a:rPr lang="fr-FR" dirty="0" err="1" smtClean="0"/>
              <a:t>name</a:t>
            </a:r>
            <a:r>
              <a:rPr lang="fr-FR" dirty="0" smtClean="0"/>
              <a:t> of BI and description / </a:t>
            </a:r>
            <a:r>
              <a:rPr lang="fr-FR" dirty="0" err="1" smtClean="0"/>
              <a:t>legend</a:t>
            </a:r>
            <a:r>
              <a:rPr lang="fr-FR" dirty="0" smtClean="0"/>
              <a:t> of case.</a:t>
            </a:r>
          </a:p>
          <a:p>
            <a:pPr lvl="2"/>
            <a:r>
              <a:rPr lang="fr-FR" dirty="0" smtClean="0"/>
              <a:t>The file </a:t>
            </a:r>
            <a:r>
              <a:rPr lang="fr-FR" dirty="0" err="1" smtClean="0"/>
              <a:t>name</a:t>
            </a:r>
            <a:r>
              <a:rPr lang="fr-FR" dirty="0" smtClean="0"/>
              <a:t> must </a:t>
            </a:r>
            <a:r>
              <a:rPr lang="fr-FR" dirty="0" err="1" smtClean="0"/>
              <a:t>be</a:t>
            </a:r>
            <a:r>
              <a:rPr lang="fr-FR" dirty="0" smtClean="0"/>
              <a:t> &lt;value of </a:t>
            </a:r>
            <a:r>
              <a:rPr lang="fr-FR" dirty="0" err="1"/>
              <a:t>LegendNlsFile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 err="1" smtClean="0"/>
              <a:t>declared</a:t>
            </a:r>
            <a:r>
              <a:rPr lang="fr-FR" dirty="0" smtClean="0"/>
              <a:t> in BI </a:t>
            </a:r>
            <a:r>
              <a:rPr lang="fr-FR" dirty="0" err="1"/>
              <a:t>d</a:t>
            </a:r>
            <a:r>
              <a:rPr lang="fr-FR" dirty="0" err="1" smtClean="0"/>
              <a:t>efinition</a:t>
            </a:r>
            <a:r>
              <a:rPr lang="fr-FR" dirty="0" smtClean="0"/>
              <a:t> file&gt;.</a:t>
            </a:r>
            <a:r>
              <a:rPr lang="fr-FR" dirty="0" err="1" smtClean="0"/>
              <a:t>CATNls</a:t>
            </a:r>
            <a:endParaRPr lang="fr-FR" dirty="0" smtClean="0"/>
          </a:p>
          <a:p>
            <a:pPr lvl="2"/>
            <a:r>
              <a:rPr lang="fr-FR" dirty="0" smtClean="0"/>
              <a:t>The file content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properties</a:t>
            </a:r>
            <a:r>
              <a:rPr lang="fr-FR" dirty="0" smtClean="0"/>
              <a:t> format </a:t>
            </a:r>
            <a:r>
              <a:rPr lang="fr-FR" dirty="0" err="1" smtClean="0"/>
              <a:t>wich</a:t>
            </a:r>
            <a:r>
              <a:rPr lang="fr-FR" dirty="0" smtClean="0"/>
              <a:t> key are:</a:t>
            </a:r>
          </a:p>
          <a:p>
            <a:pPr lvl="3"/>
            <a:r>
              <a:rPr lang="fr-FR" dirty="0" smtClean="0"/>
              <a:t>&lt;BI ID&gt; for </a:t>
            </a:r>
            <a:r>
              <a:rPr lang="fr-FR" dirty="0" err="1" smtClean="0"/>
              <a:t>its</a:t>
            </a:r>
            <a:r>
              <a:rPr lang="fr-FR" dirty="0" smtClean="0"/>
              <a:t> display </a:t>
            </a:r>
            <a:r>
              <a:rPr lang="fr-FR" dirty="0" err="1" smtClean="0"/>
              <a:t>name</a:t>
            </a:r>
            <a:endParaRPr lang="fr-FR" dirty="0"/>
          </a:p>
          <a:p>
            <a:pPr lvl="3"/>
            <a:r>
              <a:rPr lang="fr-FR" dirty="0" smtClean="0"/>
              <a:t>&lt;Value of </a:t>
            </a:r>
            <a:r>
              <a:rPr lang="fr-FR" dirty="0" err="1" smtClean="0"/>
              <a:t>LegendId</a:t>
            </a:r>
            <a:r>
              <a:rPr lang="fr-FR" b="1" dirty="0" err="1" smtClean="0"/>
              <a:t>X</a:t>
            </a:r>
            <a:r>
              <a:rPr lang="fr-FR" dirty="0" smtClean="0"/>
              <a:t>&gt; for description / </a:t>
            </a:r>
            <a:r>
              <a:rPr lang="fr-FR" dirty="0" err="1" smtClean="0"/>
              <a:t>legend</a:t>
            </a:r>
            <a:r>
              <a:rPr lang="fr-FR" dirty="0" smtClean="0"/>
              <a:t> of case </a:t>
            </a:r>
            <a:r>
              <a:rPr lang="fr-FR" b="1" dirty="0" smtClean="0"/>
              <a:t>X</a:t>
            </a:r>
            <a:r>
              <a:rPr lang="fr-FR" dirty="0" smtClean="0"/>
              <a:t>.</a:t>
            </a:r>
          </a:p>
          <a:p>
            <a:pPr marL="514337" lvl="3" indent="0">
              <a:buNone/>
            </a:pPr>
            <a:endParaRPr lang="fr-FR" dirty="0" smtClean="0"/>
          </a:p>
          <a:p>
            <a:pPr lvl="2"/>
            <a:r>
              <a:rPr lang="fr-FR" sz="1400" i="1" dirty="0" err="1" smtClean="0"/>
              <a:t>Example</a:t>
            </a:r>
            <a:r>
              <a:rPr lang="fr-FR" sz="1400" i="1" dirty="0" smtClean="0"/>
              <a:t>: </a:t>
            </a:r>
            <a:r>
              <a:rPr lang="fr-FR" sz="1400" i="1" dirty="0" err="1" smtClean="0"/>
              <a:t>LCABITestNLSFile.CATNls</a:t>
            </a:r>
            <a:r>
              <a:rPr lang="fr-FR" sz="1400" i="1" dirty="0"/>
              <a:t/>
            </a:r>
            <a:br>
              <a:rPr lang="fr-FR" sz="1400" i="1" dirty="0"/>
            </a:br>
            <a:r>
              <a:rPr lang="fr-FR" sz="1400" i="1" dirty="0"/>
              <a:t>	</a:t>
            </a:r>
            <a:r>
              <a:rPr lang="fr-FR" sz="1400" i="1" dirty="0" err="1" smtClean="0"/>
              <a:t>LCA_BI_Test</a:t>
            </a:r>
            <a:r>
              <a:rPr lang="fr-FR" sz="1400" i="1" dirty="0" smtClean="0"/>
              <a:t>="LCA BI Test";</a:t>
            </a:r>
            <a:br>
              <a:rPr lang="fr-FR" sz="1400" i="1" dirty="0" smtClean="0"/>
            </a:br>
            <a:r>
              <a:rPr lang="fr-FR" sz="1400" i="1" dirty="0" smtClean="0"/>
              <a:t>	OK="Ok to push";</a:t>
            </a:r>
            <a:br>
              <a:rPr lang="fr-FR" sz="1400" i="1" dirty="0" smtClean="0"/>
            </a:br>
            <a:r>
              <a:rPr lang="fr-FR" sz="1400" i="1" dirty="0" smtClean="0"/>
              <a:t>	Warning="Warning </a:t>
            </a:r>
            <a:r>
              <a:rPr lang="fr-FR" sz="1400" i="1" dirty="0" err="1" smtClean="0"/>
              <a:t>missing</a:t>
            </a:r>
            <a:r>
              <a:rPr lang="fr-FR" sz="1400" i="1" dirty="0" smtClean="0"/>
              <a:t> </a:t>
            </a:r>
            <a:r>
              <a:rPr lang="fr-FR" sz="1400" i="1" dirty="0" err="1" smtClean="0"/>
              <a:t>some</a:t>
            </a:r>
            <a:r>
              <a:rPr lang="fr-FR" sz="1400" i="1" dirty="0" smtClean="0"/>
              <a:t> infos";</a:t>
            </a:r>
            <a:br>
              <a:rPr lang="fr-FR" sz="1400" i="1" dirty="0" smtClean="0"/>
            </a:br>
            <a:r>
              <a:rPr lang="fr-FR" sz="1400" i="1" dirty="0" smtClean="0"/>
              <a:t>	KO="Ko to push. </a:t>
            </a:r>
            <a:r>
              <a:rPr lang="fr-FR" sz="1400" i="1" dirty="0" err="1" smtClean="0"/>
              <a:t>Missing</a:t>
            </a:r>
            <a:r>
              <a:rPr lang="fr-FR" sz="1400" i="1" dirty="0" smtClean="0"/>
              <a:t> </a:t>
            </a:r>
            <a:r>
              <a:rPr lang="fr-FR" sz="1400" i="1" dirty="0" err="1" smtClean="0"/>
              <a:t>mandatory</a:t>
            </a:r>
            <a:r>
              <a:rPr lang="fr-FR" sz="1400" i="1" dirty="0" smtClean="0"/>
              <a:t> infos";</a:t>
            </a:r>
            <a:br>
              <a:rPr lang="fr-FR" sz="1400" i="1" dirty="0" smtClean="0"/>
            </a:br>
            <a:r>
              <a:rPr lang="fr-FR" sz="1400" i="1" dirty="0" smtClean="0"/>
              <a:t>	</a:t>
            </a:r>
            <a:endParaRPr lang="fr-FR" sz="1400" i="1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Customize B.I. Essentials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1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5" y="1002537"/>
            <a:ext cx="9464037" cy="3141624"/>
          </a:xfrm>
        </p:spPr>
        <p:txBody>
          <a:bodyPr>
            <a:normAutofit fontScale="85000" lnSpcReduction="2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The BI Color definition file</a:t>
            </a:r>
          </a:p>
          <a:p>
            <a:pPr lvl="2"/>
            <a:r>
              <a:rPr lang="fr-FR" dirty="0" err="1" smtClean="0"/>
              <a:t>Contains</a:t>
            </a:r>
            <a:r>
              <a:rPr lang="fr-FR" dirty="0" smtClean="0"/>
              <a:t> the </a:t>
            </a:r>
            <a:r>
              <a:rPr lang="fr-FR" dirty="0" err="1" smtClean="0"/>
              <a:t>definition</a:t>
            </a:r>
            <a:r>
              <a:rPr lang="fr-FR" dirty="0" smtClean="0"/>
              <a:t> of </a:t>
            </a:r>
            <a:r>
              <a:rPr lang="fr-FR" dirty="0" err="1" smtClean="0"/>
              <a:t>color</a:t>
            </a:r>
            <a:r>
              <a:rPr lang="fr-FR" dirty="0" smtClean="0"/>
              <a:t> in RGBA.</a:t>
            </a:r>
          </a:p>
          <a:p>
            <a:pPr lvl="2"/>
            <a:r>
              <a:rPr lang="fr-FR" dirty="0" smtClean="0"/>
              <a:t>The file </a:t>
            </a:r>
            <a:r>
              <a:rPr lang="fr-FR" dirty="0" err="1" smtClean="0"/>
              <a:t>name</a:t>
            </a:r>
            <a:r>
              <a:rPr lang="fr-FR" dirty="0" smtClean="0"/>
              <a:t> must </a:t>
            </a:r>
            <a:r>
              <a:rPr lang="fr-FR" dirty="0" err="1" smtClean="0"/>
              <a:t>be</a:t>
            </a:r>
            <a:r>
              <a:rPr lang="fr-FR" dirty="0" smtClean="0"/>
              <a:t> &lt;value of </a:t>
            </a:r>
            <a:r>
              <a:rPr lang="fr-FR" dirty="0" err="1">
                <a:sym typeface="Wingdings" panose="05000000000000000000" pitchFamily="2" charset="2"/>
              </a:rPr>
              <a:t>ColorRscFile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 smtClean="0">
                <a:sym typeface="Wingdings" panose="05000000000000000000" pitchFamily="2" charset="2"/>
              </a:rPr>
              <a:t>declared</a:t>
            </a:r>
            <a:r>
              <a:rPr lang="fr-FR" dirty="0" smtClean="0">
                <a:sym typeface="Wingdings" panose="05000000000000000000" pitchFamily="2" charset="2"/>
              </a:rPr>
              <a:t> in BI </a:t>
            </a:r>
            <a:r>
              <a:rPr lang="fr-FR" dirty="0" err="1" smtClean="0">
                <a:sym typeface="Wingdings" panose="05000000000000000000" pitchFamily="2" charset="2"/>
              </a:rPr>
              <a:t>definition</a:t>
            </a:r>
            <a:r>
              <a:rPr lang="fr-FR" dirty="0" smtClean="0">
                <a:sym typeface="Wingdings" panose="05000000000000000000" pitchFamily="2" charset="2"/>
              </a:rPr>
              <a:t> file&gt;.</a:t>
            </a:r>
            <a:r>
              <a:rPr lang="fr-FR" dirty="0" err="1" smtClean="0">
                <a:sym typeface="Wingdings" panose="05000000000000000000" pitchFamily="2" charset="2"/>
              </a:rPr>
              <a:t>CATRsc</a:t>
            </a:r>
            <a:endParaRPr lang="fr-FR" dirty="0" smtClean="0"/>
          </a:p>
          <a:p>
            <a:pPr lvl="2"/>
            <a:r>
              <a:rPr lang="fr-FR" dirty="0" smtClean="0"/>
              <a:t>The file content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properties</a:t>
            </a:r>
            <a:r>
              <a:rPr lang="fr-FR" dirty="0" smtClean="0"/>
              <a:t> format </a:t>
            </a:r>
            <a:r>
              <a:rPr lang="fr-FR" dirty="0" err="1" smtClean="0"/>
              <a:t>wich</a:t>
            </a:r>
            <a:r>
              <a:rPr lang="fr-FR" dirty="0" smtClean="0"/>
              <a:t> a line by </a:t>
            </a:r>
            <a:r>
              <a:rPr lang="fr-FR" dirty="0" err="1" smtClean="0"/>
              <a:t>color</a:t>
            </a:r>
            <a:r>
              <a:rPr lang="fr-FR" dirty="0" smtClean="0"/>
              <a:t>:</a:t>
            </a:r>
          </a:p>
          <a:p>
            <a:pPr lvl="3"/>
            <a:r>
              <a:rPr lang="fr-FR" dirty="0" smtClean="0"/>
              <a:t>Key: &lt;Value of </a:t>
            </a:r>
            <a:r>
              <a:rPr lang="fr-FR" dirty="0" err="1" smtClean="0"/>
              <a:t>ColorId</a:t>
            </a:r>
            <a:r>
              <a:rPr lang="fr-FR" b="1" dirty="0" err="1" smtClean="0"/>
              <a:t>X</a:t>
            </a:r>
            <a:r>
              <a:rPr lang="fr-FR" dirty="0" smtClean="0"/>
              <a:t>&gt;.RGBA</a:t>
            </a:r>
            <a:endParaRPr lang="fr-FR" dirty="0"/>
          </a:p>
          <a:p>
            <a:pPr lvl="3"/>
            <a:r>
              <a:rPr lang="fr-FR" dirty="0" smtClean="0"/>
              <a:t>Value: </a:t>
            </a:r>
            <a:r>
              <a:rPr lang="fr-FR" b="1" dirty="0" smtClean="0">
                <a:solidFill>
                  <a:srgbClr val="FF0000"/>
                </a:solidFill>
              </a:rPr>
              <a:t>R</a:t>
            </a:r>
            <a:r>
              <a:rPr lang="fr-FR" dirty="0" smtClean="0"/>
              <a:t>|</a:t>
            </a:r>
            <a:r>
              <a:rPr lang="fr-FR" b="1" dirty="0" smtClean="0">
                <a:solidFill>
                  <a:srgbClr val="00B050"/>
                </a:solidFill>
              </a:rPr>
              <a:t>G</a:t>
            </a:r>
            <a:r>
              <a:rPr lang="fr-FR" dirty="0" smtClean="0"/>
              <a:t>|</a:t>
            </a:r>
            <a:r>
              <a:rPr lang="fr-FR" b="1" dirty="0" smtClean="0">
                <a:solidFill>
                  <a:srgbClr val="004DFF"/>
                </a:solidFill>
              </a:rPr>
              <a:t>B</a:t>
            </a:r>
            <a:r>
              <a:rPr lang="fr-FR" dirty="0" smtClean="0"/>
              <a:t>|</a:t>
            </a:r>
            <a:r>
              <a:rPr lang="fr-FR" b="1" dirty="0" smtClean="0"/>
              <a:t>A</a:t>
            </a:r>
            <a:r>
              <a:rPr lang="fr-FR" dirty="0" smtClean="0"/>
              <a:t>. </a:t>
            </a:r>
            <a:r>
              <a:rPr lang="fr-FR" dirty="0" err="1" smtClean="0"/>
              <a:t>Where</a:t>
            </a:r>
            <a:r>
              <a:rPr lang="fr-FR" dirty="0" smtClean="0"/>
              <a:t> R,G,B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interger</a:t>
            </a:r>
            <a:r>
              <a:rPr lang="fr-FR" dirty="0" smtClean="0"/>
              <a:t> value </a:t>
            </a:r>
            <a:r>
              <a:rPr lang="fr-FR" dirty="0" err="1" smtClean="0"/>
              <a:t>between</a:t>
            </a:r>
            <a:r>
              <a:rPr lang="fr-FR" dirty="0" smtClean="0"/>
              <a:t> 0 and 255. And A, for alpha, </a:t>
            </a:r>
            <a:r>
              <a:rPr lang="fr-FR" dirty="0" err="1" smtClean="0"/>
              <a:t>is</a:t>
            </a:r>
            <a:r>
              <a:rPr lang="fr-FR" dirty="0" smtClean="0"/>
              <a:t> the value for the transparence, but </a:t>
            </a:r>
            <a:r>
              <a:rPr lang="fr-FR" dirty="0" err="1" smtClean="0"/>
              <a:t>actually</a:t>
            </a:r>
            <a:r>
              <a:rPr lang="fr-FR" dirty="0"/>
              <a:t> </a:t>
            </a:r>
            <a:r>
              <a:rPr lang="fr-FR" dirty="0" smtClean="0"/>
              <a:t>(</a:t>
            </a:r>
            <a:r>
              <a:rPr lang="fr-FR" dirty="0" err="1" smtClean="0"/>
              <a:t>currently</a:t>
            </a:r>
            <a:r>
              <a:rPr lang="fr-FR" dirty="0" smtClean="0"/>
              <a:t>) </a:t>
            </a:r>
            <a:r>
              <a:rPr lang="fr-FR" dirty="0" err="1" smtClean="0"/>
              <a:t>does</a:t>
            </a:r>
            <a:r>
              <a:rPr lang="fr-FR" dirty="0" smtClean="0"/>
              <a:t> not </a:t>
            </a:r>
            <a:r>
              <a:rPr lang="fr-FR" dirty="0" err="1" smtClean="0"/>
              <a:t>work</a:t>
            </a:r>
            <a:r>
              <a:rPr lang="fr-FR" dirty="0" smtClean="0"/>
              <a:t>, let 0.</a:t>
            </a:r>
          </a:p>
          <a:p>
            <a:pPr marL="514337" lvl="3" indent="0">
              <a:buNone/>
            </a:pPr>
            <a:endParaRPr lang="fr-FR" dirty="0" smtClean="0"/>
          </a:p>
          <a:p>
            <a:pPr lvl="2"/>
            <a:r>
              <a:rPr lang="fr-FR" sz="1400" i="1" dirty="0" err="1" smtClean="0"/>
              <a:t>Example</a:t>
            </a:r>
            <a:r>
              <a:rPr lang="fr-FR" sz="1400" i="1" dirty="0" smtClean="0"/>
              <a:t>: </a:t>
            </a:r>
            <a:r>
              <a:rPr lang="fr-FR" sz="1400" i="1" dirty="0" err="1" smtClean="0"/>
              <a:t>LCABITestColorFile.CATRsc</a:t>
            </a:r>
            <a:r>
              <a:rPr lang="fr-FR" sz="1400" i="1" dirty="0"/>
              <a:t/>
            </a:r>
            <a:br>
              <a:rPr lang="fr-FR" sz="1400" i="1" dirty="0"/>
            </a:br>
            <a:r>
              <a:rPr lang="fr-FR" sz="1400" i="1" dirty="0"/>
              <a:t>	</a:t>
            </a:r>
            <a:r>
              <a:rPr lang="fr-FR" sz="1400" i="1" dirty="0" err="1" smtClean="0"/>
              <a:t>Green.RGBA</a:t>
            </a:r>
            <a:r>
              <a:rPr lang="fr-FR" sz="1400" i="1" dirty="0" smtClean="0"/>
              <a:t>="0|255|0|0";</a:t>
            </a:r>
            <a:br>
              <a:rPr lang="fr-FR" sz="1400" i="1" dirty="0" smtClean="0"/>
            </a:br>
            <a:r>
              <a:rPr lang="fr-FR" sz="1400" i="1" dirty="0" smtClean="0"/>
              <a:t>	</a:t>
            </a:r>
            <a:r>
              <a:rPr lang="fr-FR" sz="1400" i="1" dirty="0" err="1" smtClean="0"/>
              <a:t>Orange.RGBA</a:t>
            </a:r>
            <a:r>
              <a:rPr lang="fr-FR" sz="1400" i="1" dirty="0" smtClean="0"/>
              <a:t>="255|165|0|0</a:t>
            </a:r>
            <a:r>
              <a:rPr lang="fr-FR" sz="1400" i="1" dirty="0"/>
              <a:t>";</a:t>
            </a:r>
            <a:br>
              <a:rPr lang="fr-FR" sz="1400" i="1" dirty="0"/>
            </a:br>
            <a:r>
              <a:rPr lang="fr-FR" sz="1400" i="1" dirty="0"/>
              <a:t>	</a:t>
            </a:r>
            <a:r>
              <a:rPr lang="fr-FR" sz="1400" i="1" dirty="0" err="1" smtClean="0"/>
              <a:t>Red.RGBA</a:t>
            </a:r>
            <a:r>
              <a:rPr lang="fr-FR" sz="1400" i="1" dirty="0" smtClean="0"/>
              <a:t>="255|0|0|0</a:t>
            </a:r>
            <a:r>
              <a:rPr lang="fr-FR" sz="1400" i="1" dirty="0"/>
              <a:t>";</a:t>
            </a:r>
            <a:br>
              <a:rPr lang="fr-FR" sz="1400" i="1" dirty="0"/>
            </a:br>
            <a:r>
              <a:rPr lang="fr-FR" sz="1400" i="1" dirty="0"/>
              <a:t>	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Customize B.I. Essentials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97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5" y="1002537"/>
            <a:ext cx="9483767" cy="3232964"/>
          </a:xfrm>
        </p:spPr>
        <p:txBody>
          <a:bodyPr>
            <a:normAutofit fontScale="85000" lnSpcReduction="2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The BI Rule Type Association file</a:t>
            </a:r>
          </a:p>
          <a:p>
            <a:pPr lvl="2"/>
            <a:r>
              <a:rPr lang="fr-FR" dirty="0" err="1" smtClean="0"/>
              <a:t>Contains</a:t>
            </a:r>
            <a:r>
              <a:rPr lang="fr-FR" dirty="0" smtClean="0"/>
              <a:t> the </a:t>
            </a:r>
            <a:r>
              <a:rPr lang="fr-FR" dirty="0" err="1" smtClean="0"/>
              <a:t>matching</a:t>
            </a:r>
            <a:r>
              <a:rPr lang="fr-FR" dirty="0" smtClean="0"/>
              <a:t> </a:t>
            </a:r>
            <a:r>
              <a:rPr lang="fr-FR" dirty="0"/>
              <a:t>type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rules</a:t>
            </a:r>
            <a:r>
              <a:rPr lang="fr-FR" dirty="0"/>
              <a:t> for </a:t>
            </a:r>
            <a:r>
              <a:rPr lang="fr-FR" dirty="0" err="1"/>
              <a:t>color</a:t>
            </a:r>
            <a:r>
              <a:rPr lang="fr-FR" dirty="0"/>
              <a:t> and for label</a:t>
            </a:r>
            <a:r>
              <a:rPr lang="fr-FR" dirty="0" smtClean="0"/>
              <a:t>.</a:t>
            </a:r>
          </a:p>
          <a:p>
            <a:pPr lvl="2"/>
            <a:r>
              <a:rPr lang="fr-FR" dirty="0" smtClean="0"/>
              <a:t>The file </a:t>
            </a:r>
            <a:r>
              <a:rPr lang="fr-FR" dirty="0" err="1" smtClean="0"/>
              <a:t>name</a:t>
            </a:r>
            <a:r>
              <a:rPr lang="fr-FR" dirty="0" smtClean="0"/>
              <a:t> must </a:t>
            </a:r>
            <a:r>
              <a:rPr lang="fr-FR" dirty="0" err="1" smtClean="0"/>
              <a:t>be</a:t>
            </a:r>
            <a:r>
              <a:rPr lang="fr-FR" dirty="0" smtClean="0"/>
              <a:t> &lt;value of </a:t>
            </a:r>
            <a:r>
              <a:rPr lang="fr-FR" dirty="0" err="1">
                <a:sym typeface="Wingdings" panose="05000000000000000000" pitchFamily="2" charset="2"/>
              </a:rPr>
              <a:t>TypeRuleDefinitionFile</a:t>
            </a:r>
            <a:r>
              <a:rPr lang="fr-FR" dirty="0" smtClean="0">
                <a:sym typeface="Wingdings" panose="05000000000000000000" pitchFamily="2" charset="2"/>
              </a:rPr>
              <a:t> </a:t>
            </a:r>
            <a:r>
              <a:rPr lang="fr-FR" dirty="0" err="1" smtClean="0">
                <a:sym typeface="Wingdings" panose="05000000000000000000" pitchFamily="2" charset="2"/>
              </a:rPr>
              <a:t>declared</a:t>
            </a:r>
            <a:r>
              <a:rPr lang="fr-FR" dirty="0" smtClean="0">
                <a:sym typeface="Wingdings" panose="05000000000000000000" pitchFamily="2" charset="2"/>
              </a:rPr>
              <a:t> in BI </a:t>
            </a:r>
            <a:r>
              <a:rPr lang="fr-FR" dirty="0" err="1" smtClean="0">
                <a:sym typeface="Wingdings" panose="05000000000000000000" pitchFamily="2" charset="2"/>
              </a:rPr>
              <a:t>definition</a:t>
            </a:r>
            <a:r>
              <a:rPr lang="fr-FR" dirty="0" smtClean="0">
                <a:sym typeface="Wingdings" panose="05000000000000000000" pitchFamily="2" charset="2"/>
              </a:rPr>
              <a:t> file&gt;.</a:t>
            </a:r>
            <a:r>
              <a:rPr lang="fr-FR" dirty="0" err="1" smtClean="0">
                <a:sym typeface="Wingdings" panose="05000000000000000000" pitchFamily="2" charset="2"/>
              </a:rPr>
              <a:t>CATRsc</a:t>
            </a:r>
            <a:endParaRPr lang="fr-FR" dirty="0" smtClean="0"/>
          </a:p>
          <a:p>
            <a:pPr lvl="2"/>
            <a:r>
              <a:rPr lang="fr-FR" dirty="0" smtClean="0"/>
              <a:t>The file content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properties</a:t>
            </a:r>
            <a:r>
              <a:rPr lang="fr-FR" dirty="0" smtClean="0"/>
              <a:t> format </a:t>
            </a:r>
            <a:r>
              <a:rPr lang="fr-FR" dirty="0" err="1" smtClean="0"/>
              <a:t>wich</a:t>
            </a:r>
            <a:r>
              <a:rPr lang="fr-FR" dirty="0" smtClean="0"/>
              <a:t> a 2 line by type, one for </a:t>
            </a:r>
            <a:r>
              <a:rPr lang="fr-FR" dirty="0" err="1" smtClean="0"/>
              <a:t>color</a:t>
            </a:r>
            <a:r>
              <a:rPr lang="fr-FR" dirty="0" smtClean="0"/>
              <a:t> and one for label:</a:t>
            </a:r>
          </a:p>
          <a:p>
            <a:pPr lvl="3"/>
            <a:r>
              <a:rPr lang="fr-FR" dirty="0" smtClean="0"/>
              <a:t>Key: </a:t>
            </a:r>
            <a:r>
              <a:rPr lang="fr-FR" dirty="0" err="1" smtClean="0"/>
              <a:t>Color|Label.Rule</a:t>
            </a:r>
            <a:r>
              <a:rPr lang="fr-FR" dirty="0" smtClean="0"/>
              <a:t>.&lt;Type&gt;</a:t>
            </a:r>
            <a:endParaRPr lang="fr-FR" dirty="0"/>
          </a:p>
          <a:p>
            <a:pPr lvl="3"/>
            <a:r>
              <a:rPr lang="fr-FR" dirty="0" smtClean="0"/>
              <a:t>Value: </a:t>
            </a:r>
            <a:r>
              <a:rPr lang="fr-FR" dirty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file (</a:t>
            </a:r>
            <a:r>
              <a:rPr lang="fr-FR" dirty="0" err="1" smtClean="0"/>
              <a:t>without</a:t>
            </a:r>
            <a:r>
              <a:rPr lang="fr-FR" dirty="0" smtClean="0"/>
              <a:t> extension) of the EKL code / </a:t>
            </a:r>
            <a:r>
              <a:rPr lang="fr-FR" dirty="0" err="1" smtClean="0"/>
              <a:t>CATRule</a:t>
            </a:r>
            <a:r>
              <a:rPr lang="fr-FR" dirty="0" smtClean="0"/>
              <a:t> to </a:t>
            </a:r>
            <a:r>
              <a:rPr lang="fr-FR" dirty="0" err="1" smtClean="0"/>
              <a:t>apply</a:t>
            </a:r>
            <a:r>
              <a:rPr lang="fr-FR" dirty="0" smtClean="0"/>
              <a:t> for </a:t>
            </a:r>
            <a:r>
              <a:rPr lang="fr-FR" dirty="0" err="1" smtClean="0"/>
              <a:t>this</a:t>
            </a:r>
            <a:r>
              <a:rPr lang="fr-FR" dirty="0" smtClean="0"/>
              <a:t> type.</a:t>
            </a:r>
          </a:p>
          <a:p>
            <a:pPr lvl="2"/>
            <a:r>
              <a:rPr lang="fr-FR" dirty="0" smtClean="0"/>
              <a:t>The </a:t>
            </a:r>
            <a:r>
              <a:rPr lang="fr-FR" dirty="0" err="1" smtClean="0"/>
              <a:t>rule</a:t>
            </a:r>
            <a:r>
              <a:rPr lang="fr-FR" dirty="0" smtClean="0"/>
              <a:t> for </a:t>
            </a:r>
            <a:r>
              <a:rPr lang="fr-FR" dirty="0" err="1" smtClean="0"/>
              <a:t>color</a:t>
            </a:r>
            <a:r>
              <a:rPr lang="fr-FR" dirty="0" smtClean="0"/>
              <a:t> and label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put in the </a:t>
            </a:r>
            <a:r>
              <a:rPr lang="fr-FR" dirty="0" err="1" smtClean="0"/>
              <a:t>same</a:t>
            </a:r>
            <a:r>
              <a:rPr lang="fr-FR" dirty="0" smtClean="0"/>
              <a:t> file.</a:t>
            </a:r>
            <a:endParaRPr lang="fr-FR" dirty="0"/>
          </a:p>
          <a:p>
            <a:pPr marL="514337" lvl="3" indent="0">
              <a:buNone/>
            </a:pPr>
            <a:endParaRPr lang="fr-FR" dirty="0" smtClean="0"/>
          </a:p>
          <a:p>
            <a:pPr lvl="2"/>
            <a:r>
              <a:rPr lang="fr-FR" sz="1400" i="1" dirty="0" err="1" smtClean="0"/>
              <a:t>Example</a:t>
            </a:r>
            <a:r>
              <a:rPr lang="fr-FR" sz="1400" i="1" dirty="0" smtClean="0"/>
              <a:t>: </a:t>
            </a:r>
            <a:r>
              <a:rPr lang="fr-FR" sz="1400" i="1" dirty="0" err="1" smtClean="0"/>
              <a:t>LCABITest_Ass.CATRsc</a:t>
            </a:r>
            <a:r>
              <a:rPr lang="fr-FR" sz="1400" i="1" dirty="0"/>
              <a:t/>
            </a:r>
            <a:br>
              <a:rPr lang="fr-FR" sz="1400" i="1" dirty="0"/>
            </a:br>
            <a:r>
              <a:rPr lang="fr-FR" sz="1400" i="1" dirty="0"/>
              <a:t>	</a:t>
            </a:r>
            <a:r>
              <a:rPr lang="fr-FR" sz="1400" i="1" dirty="0" err="1" smtClean="0"/>
              <a:t>Color.Rule.ACN_DELLmiGeneralOperationReference_Operation</a:t>
            </a:r>
            <a:r>
              <a:rPr lang="fr-FR" sz="1400" i="1" dirty="0" smtClean="0"/>
              <a:t> = "</a:t>
            </a:r>
            <a:r>
              <a:rPr lang="fr-FR" sz="1400" i="1" dirty="0" err="1" smtClean="0"/>
              <a:t>LCABITest_OP_Color</a:t>
            </a:r>
            <a:r>
              <a:rPr lang="fr-FR" sz="1400" i="1" dirty="0" smtClean="0"/>
              <a:t>";</a:t>
            </a:r>
            <a:br>
              <a:rPr lang="fr-FR" sz="1400" i="1" dirty="0" smtClean="0"/>
            </a:br>
            <a:r>
              <a:rPr lang="fr-FR" sz="1400" i="1" dirty="0" smtClean="0"/>
              <a:t>	</a:t>
            </a:r>
            <a:r>
              <a:rPr lang="fr-FR" sz="1400" i="1" dirty="0" err="1" smtClean="0"/>
              <a:t>Label.Rule.ACN_DELLmiGeneralOperationReference_Operation</a:t>
            </a:r>
            <a:r>
              <a:rPr lang="fr-FR" sz="1400" i="1" dirty="0" smtClean="0"/>
              <a:t> </a:t>
            </a:r>
            <a:r>
              <a:rPr lang="fr-FR" sz="1400" i="1" dirty="0"/>
              <a:t>= "</a:t>
            </a:r>
            <a:r>
              <a:rPr lang="fr-FR" sz="1400" i="1" dirty="0" err="1"/>
              <a:t>LCABITest_OP_Color</a:t>
            </a:r>
            <a:r>
              <a:rPr lang="fr-FR" sz="1400" i="1" dirty="0"/>
              <a:t>";</a:t>
            </a:r>
            <a:br>
              <a:rPr lang="fr-FR" sz="1400" i="1" dirty="0"/>
            </a:br>
            <a:r>
              <a:rPr lang="fr-FR" sz="1400" i="1" dirty="0"/>
              <a:t>	</a:t>
            </a:r>
            <a:br>
              <a:rPr lang="fr-FR" sz="1400" i="1" dirty="0"/>
            </a:br>
            <a:r>
              <a:rPr lang="fr-FR" sz="1400" i="1" dirty="0"/>
              <a:t>	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Customize B.I. Essentials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75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4" y="1002535"/>
            <a:ext cx="11393505" cy="5775769"/>
          </a:xfrm>
        </p:spPr>
        <p:txBody>
          <a:bodyPr>
            <a:normAutofit fontScale="70000" lnSpcReduction="2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sz="3100" dirty="0"/>
              <a:t>The Rule / EKL Code file</a:t>
            </a:r>
            <a:endParaRPr lang="en-US" dirty="0"/>
          </a:p>
          <a:p>
            <a:pPr lvl="2"/>
            <a:r>
              <a:rPr lang="fr-FR" sz="2100" dirty="0" err="1"/>
              <a:t>Contains</a:t>
            </a:r>
            <a:r>
              <a:rPr lang="fr-FR" sz="2100" dirty="0"/>
              <a:t> the EKL code to </a:t>
            </a:r>
            <a:r>
              <a:rPr lang="fr-FR" sz="2100" dirty="0" err="1"/>
              <a:t>define</a:t>
            </a:r>
            <a:r>
              <a:rPr lang="fr-FR" sz="2100" dirty="0"/>
              <a:t> </a:t>
            </a:r>
            <a:r>
              <a:rPr lang="fr-FR" sz="2100" dirty="0" err="1" smtClean="0"/>
              <a:t>color</a:t>
            </a:r>
            <a:r>
              <a:rPr lang="fr-FR" sz="2100" dirty="0" smtClean="0"/>
              <a:t> </a:t>
            </a:r>
            <a:r>
              <a:rPr lang="fr-FR" sz="2100" dirty="0"/>
              <a:t>and/or label to </a:t>
            </a:r>
            <a:r>
              <a:rPr lang="fr-FR" sz="2100" dirty="0" err="1"/>
              <a:t>apply</a:t>
            </a:r>
            <a:r>
              <a:rPr lang="fr-FR" sz="2100" dirty="0" smtClean="0"/>
              <a:t>.</a:t>
            </a:r>
            <a:endParaRPr lang="fr-FR" dirty="0" smtClean="0"/>
          </a:p>
          <a:p>
            <a:pPr lvl="2"/>
            <a:r>
              <a:rPr lang="fr-FR" sz="2100" dirty="0" smtClean="0"/>
              <a:t>The file </a:t>
            </a:r>
            <a:r>
              <a:rPr lang="fr-FR" sz="2100" dirty="0" err="1" smtClean="0"/>
              <a:t>name</a:t>
            </a:r>
            <a:r>
              <a:rPr lang="fr-FR" sz="2100" dirty="0" smtClean="0"/>
              <a:t> must </a:t>
            </a:r>
            <a:r>
              <a:rPr lang="fr-FR" sz="2100" dirty="0" err="1" smtClean="0"/>
              <a:t>be</a:t>
            </a:r>
            <a:r>
              <a:rPr lang="fr-FR" sz="2100" dirty="0" smtClean="0"/>
              <a:t> &lt;value </a:t>
            </a:r>
            <a:r>
              <a:rPr lang="fr-FR" sz="2100" dirty="0" err="1" smtClean="0">
                <a:sym typeface="Wingdings" panose="05000000000000000000" pitchFamily="2" charset="2"/>
              </a:rPr>
              <a:t>declared</a:t>
            </a:r>
            <a:r>
              <a:rPr lang="fr-FR" sz="2100" dirty="0" smtClean="0">
                <a:sym typeface="Wingdings" panose="05000000000000000000" pitchFamily="2" charset="2"/>
              </a:rPr>
              <a:t> in </a:t>
            </a:r>
            <a:r>
              <a:rPr lang="fr-FR" sz="2100" dirty="0" err="1" smtClean="0">
                <a:sym typeface="Wingdings" panose="05000000000000000000" pitchFamily="2" charset="2"/>
              </a:rPr>
              <a:t>Rule</a:t>
            </a:r>
            <a:r>
              <a:rPr lang="fr-FR" sz="2100" dirty="0" smtClean="0">
                <a:sym typeface="Wingdings" panose="05000000000000000000" pitchFamily="2" charset="2"/>
              </a:rPr>
              <a:t> Type Association file&gt;.</a:t>
            </a:r>
            <a:r>
              <a:rPr lang="fr-FR" sz="2100" dirty="0" err="1" smtClean="0">
                <a:sym typeface="Wingdings" panose="05000000000000000000" pitchFamily="2" charset="2"/>
              </a:rPr>
              <a:t>CATRule</a:t>
            </a:r>
            <a:endParaRPr lang="fr-FR" dirty="0" smtClean="0"/>
          </a:p>
          <a:p>
            <a:pPr lvl="2"/>
            <a:r>
              <a:rPr lang="fr-FR" sz="2100" dirty="0" smtClean="0"/>
              <a:t>The </a:t>
            </a:r>
            <a:r>
              <a:rPr lang="fr-FR" sz="2100" dirty="0"/>
              <a:t>file content </a:t>
            </a:r>
            <a:r>
              <a:rPr lang="fr-FR" sz="2100" dirty="0" err="1"/>
              <a:t>is</a:t>
            </a:r>
            <a:r>
              <a:rPr lang="fr-FR" sz="2100" dirty="0"/>
              <a:t> a EKL code.</a:t>
            </a:r>
            <a:endParaRPr lang="fr-FR" dirty="0"/>
          </a:p>
          <a:p>
            <a:pPr lvl="3"/>
            <a:r>
              <a:rPr lang="fr-FR" sz="1800" dirty="0"/>
              <a:t>Use </a:t>
            </a:r>
            <a:r>
              <a:rPr lang="fr-FR" sz="1800" b="1" dirty="0" err="1"/>
              <a:t>ThisObject</a:t>
            </a:r>
            <a:r>
              <a:rPr lang="fr-FR" sz="1800" dirty="0"/>
              <a:t> </a:t>
            </a:r>
            <a:r>
              <a:rPr lang="fr-FR" sz="1800" dirty="0" err="1"/>
              <a:t>object</a:t>
            </a:r>
            <a:r>
              <a:rPr lang="fr-FR" sz="1800" dirty="0"/>
              <a:t> to have </a:t>
            </a:r>
            <a:r>
              <a:rPr lang="fr-FR" sz="1800" dirty="0" err="1"/>
              <a:t>access</a:t>
            </a:r>
            <a:r>
              <a:rPr lang="fr-FR" sz="1800" dirty="0"/>
              <a:t> to the </a:t>
            </a:r>
            <a:r>
              <a:rPr lang="fr-FR" sz="1800" dirty="0" err="1"/>
              <a:t>current</a:t>
            </a:r>
            <a:r>
              <a:rPr lang="fr-FR" sz="1800" dirty="0"/>
              <a:t> </a:t>
            </a:r>
            <a:r>
              <a:rPr lang="fr-FR" sz="1800" dirty="0" err="1"/>
              <a:t>object</a:t>
            </a:r>
            <a:r>
              <a:rPr lang="fr-FR" sz="1800" dirty="0"/>
              <a:t> (</a:t>
            </a:r>
            <a:r>
              <a:rPr lang="fr-FR" sz="1800" dirty="0" err="1"/>
              <a:t>attributes</a:t>
            </a:r>
            <a:r>
              <a:rPr lang="fr-FR" sz="1800" dirty="0"/>
              <a:t>, </a:t>
            </a:r>
            <a:r>
              <a:rPr lang="fr-FR" sz="1800" dirty="0" err="1"/>
              <a:t>linked</a:t>
            </a:r>
            <a:r>
              <a:rPr lang="fr-FR" sz="1800" dirty="0"/>
              <a:t> </a:t>
            </a:r>
            <a:r>
              <a:rPr lang="fr-FR" sz="1800" dirty="0" err="1"/>
              <a:t>objects</a:t>
            </a:r>
            <a:r>
              <a:rPr lang="fr-FR" sz="1800" dirty="0"/>
              <a:t>, …)</a:t>
            </a:r>
            <a:br>
              <a:rPr lang="fr-FR" sz="1800" dirty="0"/>
            </a:br>
            <a:r>
              <a:rPr lang="fr-FR" sz="1800" dirty="0"/>
              <a:t>Type of </a:t>
            </a:r>
            <a:r>
              <a:rPr lang="fr-FR" sz="1800" dirty="0" err="1"/>
              <a:t>ThisObject</a:t>
            </a:r>
            <a:r>
              <a:rPr lang="fr-FR" sz="1800" dirty="0"/>
              <a:t> </a:t>
            </a:r>
            <a:r>
              <a:rPr lang="fr-FR" sz="1800" dirty="0" err="1"/>
              <a:t>is</a:t>
            </a:r>
            <a:r>
              <a:rPr lang="fr-FR" sz="1800" dirty="0"/>
              <a:t> Reference or Instance or Occurrence, </a:t>
            </a:r>
            <a:r>
              <a:rPr lang="fr-FR" sz="1800" dirty="0" err="1"/>
              <a:t>according</a:t>
            </a:r>
            <a:r>
              <a:rPr lang="fr-FR" sz="1800" dirty="0"/>
              <a:t> to Version </a:t>
            </a:r>
            <a:r>
              <a:rPr lang="fr-FR" sz="1800" dirty="0" err="1"/>
              <a:t>defined</a:t>
            </a:r>
            <a:r>
              <a:rPr lang="fr-FR" sz="1800" dirty="0"/>
              <a:t> in </a:t>
            </a:r>
            <a:r>
              <a:rPr lang="fr-FR" sz="1800" dirty="0">
                <a:hlinkClick r:id="rId2" action="ppaction://hlinksldjump"/>
              </a:rPr>
              <a:t>The BI </a:t>
            </a:r>
            <a:r>
              <a:rPr lang="fr-FR" sz="1800" dirty="0" err="1">
                <a:hlinkClick r:id="rId2" action="ppaction://hlinksldjump"/>
              </a:rPr>
              <a:t>definition</a:t>
            </a:r>
            <a:r>
              <a:rPr lang="fr-FR" sz="1800" dirty="0">
                <a:hlinkClick r:id="rId2" action="ppaction://hlinksldjump"/>
              </a:rPr>
              <a:t> file</a:t>
            </a:r>
            <a:r>
              <a:rPr lang="fr-FR" sz="1800" dirty="0"/>
              <a:t>.</a:t>
            </a:r>
            <a:br>
              <a:rPr lang="fr-FR" sz="1800" dirty="0"/>
            </a:br>
            <a:r>
              <a:rPr lang="fr-FR" sz="1400" dirty="0"/>
              <a:t>(But do a check, </a:t>
            </a:r>
            <a:r>
              <a:rPr lang="fr-FR" sz="1400" dirty="0" err="1"/>
              <a:t>sometimes</a:t>
            </a:r>
            <a:r>
              <a:rPr lang="fr-FR" sz="1400" dirty="0"/>
              <a:t> </a:t>
            </a:r>
            <a:r>
              <a:rPr lang="fr-FR" sz="1400" dirty="0" err="1"/>
              <a:t>is</a:t>
            </a:r>
            <a:r>
              <a:rPr lang="fr-FR" sz="1400" dirty="0"/>
              <a:t> not of </a:t>
            </a:r>
            <a:r>
              <a:rPr lang="fr-FR" sz="1400" dirty="0" err="1"/>
              <a:t>expected</a:t>
            </a:r>
            <a:r>
              <a:rPr lang="fr-FR" sz="1400" dirty="0"/>
              <a:t> type, exemple, </a:t>
            </a:r>
            <a:r>
              <a:rPr lang="fr-FR" sz="1400" dirty="0" err="1"/>
              <a:t>fasten</a:t>
            </a:r>
            <a:r>
              <a:rPr lang="fr-FR" sz="1400" dirty="0"/>
              <a:t> in version 3 </a:t>
            </a:r>
            <a:r>
              <a:rPr lang="fr-FR" sz="1400" dirty="0" err="1"/>
              <a:t>is</a:t>
            </a:r>
            <a:r>
              <a:rPr lang="fr-FR" sz="1400" dirty="0"/>
              <a:t> an Instance </a:t>
            </a:r>
            <a:r>
              <a:rPr lang="fr-FR" sz="1400" dirty="0" err="1"/>
              <a:t>instead</a:t>
            </a:r>
            <a:r>
              <a:rPr lang="fr-FR" sz="1400" dirty="0"/>
              <a:t> of an Occurrence)</a:t>
            </a:r>
            <a:endParaRPr lang="fr-FR" sz="2000" dirty="0"/>
          </a:p>
          <a:p>
            <a:pPr marL="514337" lvl="3" indent="0">
              <a:buNone/>
            </a:pPr>
            <a:endParaRPr lang="fr-FR" sz="1800" dirty="0"/>
          </a:p>
          <a:p>
            <a:pPr lvl="3"/>
            <a:r>
              <a:rPr lang="fr-FR" sz="1800" dirty="0"/>
              <a:t>Use </a:t>
            </a:r>
            <a:r>
              <a:rPr lang="fr-FR" sz="1800" b="1" dirty="0" err="1"/>
              <a:t>Parameters</a:t>
            </a:r>
            <a:r>
              <a:rPr lang="fr-FR" sz="1800" dirty="0"/>
              <a:t> </a:t>
            </a:r>
            <a:r>
              <a:rPr lang="fr-FR" sz="1800" dirty="0" err="1"/>
              <a:t>object</a:t>
            </a:r>
            <a:r>
              <a:rPr lang="fr-FR" sz="1800" dirty="0"/>
              <a:t> to </a:t>
            </a:r>
            <a:r>
              <a:rPr lang="fr-FR" sz="1800" dirty="0" err="1"/>
              <a:t>define</a:t>
            </a:r>
            <a:r>
              <a:rPr lang="fr-FR" sz="1800" dirty="0"/>
              <a:t> </a:t>
            </a:r>
            <a:r>
              <a:rPr lang="fr-FR" sz="1800" dirty="0" err="1"/>
              <a:t>color</a:t>
            </a:r>
            <a:r>
              <a:rPr lang="fr-FR" sz="1800" dirty="0"/>
              <a:t> and label for the </a:t>
            </a:r>
            <a:r>
              <a:rPr lang="fr-FR" sz="1800" dirty="0" err="1"/>
              <a:t>current</a:t>
            </a:r>
            <a:r>
              <a:rPr lang="fr-FR" sz="1800" dirty="0"/>
              <a:t> </a:t>
            </a:r>
            <a:r>
              <a:rPr lang="fr-FR" sz="1800" dirty="0" err="1"/>
              <a:t>object</a:t>
            </a:r>
            <a:r>
              <a:rPr lang="fr-FR" sz="1800" dirty="0"/>
              <a:t> </a:t>
            </a:r>
            <a:br>
              <a:rPr lang="fr-FR" sz="1800" dirty="0"/>
            </a:br>
            <a:r>
              <a:rPr lang="fr-FR" sz="1400" dirty="0"/>
              <a:t>(</a:t>
            </a:r>
            <a:r>
              <a:rPr lang="fr-FR" sz="1400" dirty="0" err="1"/>
              <a:t>with</a:t>
            </a:r>
            <a:r>
              <a:rPr lang="fr-FR" sz="1400" dirty="0"/>
              <a:t> </a:t>
            </a:r>
            <a:r>
              <a:rPr lang="fr-FR" sz="1400" dirty="0" err="1"/>
              <a:t>method</a:t>
            </a:r>
            <a:r>
              <a:rPr lang="fr-FR" sz="1400" dirty="0"/>
              <a:t> </a:t>
            </a:r>
            <a:r>
              <a:rPr lang="fr-FR" sz="1400" dirty="0" err="1"/>
              <a:t>SetAttributeString</a:t>
            </a:r>
            <a:r>
              <a:rPr lang="fr-FR" sz="1400" dirty="0"/>
              <a:t> and </a:t>
            </a:r>
            <a:r>
              <a:rPr lang="fr-FR" sz="1400" dirty="0" err="1"/>
              <a:t>param</a:t>
            </a:r>
            <a:r>
              <a:rPr lang="fr-FR" sz="1400" dirty="0"/>
              <a:t>/</a:t>
            </a:r>
            <a:r>
              <a:rPr lang="fr-FR" sz="1400" dirty="0" err="1"/>
              <a:t>attribute</a:t>
            </a:r>
            <a:r>
              <a:rPr lang="fr-FR" sz="1400" dirty="0"/>
              <a:t> </a:t>
            </a:r>
            <a:r>
              <a:rPr lang="fr-FR" sz="1400" dirty="0" err="1"/>
              <a:t>MyColorForPLMCompass</a:t>
            </a:r>
            <a:r>
              <a:rPr lang="fr-FR" sz="1400" dirty="0"/>
              <a:t>/</a:t>
            </a:r>
            <a:r>
              <a:rPr lang="fr-FR" sz="1400" dirty="0" err="1"/>
              <a:t>MyLabelForPLMCompass</a:t>
            </a:r>
            <a:r>
              <a:rPr lang="fr-FR" sz="1400" dirty="0"/>
              <a:t>)</a:t>
            </a:r>
            <a:r>
              <a:rPr lang="fr-FR" sz="2000" dirty="0"/>
              <a:t>.</a:t>
            </a:r>
          </a:p>
          <a:p>
            <a:pPr lvl="4"/>
            <a:endParaRPr lang="fr-FR" sz="1500" dirty="0"/>
          </a:p>
          <a:p>
            <a:pPr lvl="2"/>
            <a:r>
              <a:rPr lang="fr-FR" sz="2100" dirty="0"/>
              <a:t>To set the </a:t>
            </a:r>
            <a:r>
              <a:rPr lang="fr-FR" sz="2100" dirty="0" err="1"/>
              <a:t>color</a:t>
            </a:r>
            <a:r>
              <a:rPr lang="fr-FR" sz="2100" dirty="0"/>
              <a:t> </a:t>
            </a:r>
            <a:r>
              <a:rPr lang="fr-FR" sz="2100" dirty="0" smtClean="0"/>
              <a:t>use: </a:t>
            </a:r>
            <a:r>
              <a:rPr lang="fr-FR" sz="2100" dirty="0" err="1"/>
              <a:t>Parameters.SetAttributeString</a:t>
            </a:r>
            <a:r>
              <a:rPr lang="fr-FR" sz="2100" dirty="0"/>
              <a:t>("</a:t>
            </a:r>
            <a:r>
              <a:rPr lang="fr-FR" sz="2100" dirty="0" err="1"/>
              <a:t>MyColorForPLMCompass</a:t>
            </a:r>
            <a:r>
              <a:rPr lang="fr-FR" sz="2100" dirty="0"/>
              <a:t>", &lt;</a:t>
            </a:r>
            <a:r>
              <a:rPr lang="fr-FR" sz="2100" dirty="0" err="1"/>
              <a:t>Color</a:t>
            </a:r>
            <a:r>
              <a:rPr lang="fr-FR" sz="2100" dirty="0"/>
              <a:t> Id&gt;)</a:t>
            </a:r>
          </a:p>
          <a:p>
            <a:pPr lvl="2"/>
            <a:r>
              <a:rPr lang="fr-FR" sz="2100" dirty="0"/>
              <a:t>To set the label </a:t>
            </a:r>
            <a:r>
              <a:rPr lang="fr-FR" sz="2100" dirty="0" smtClean="0"/>
              <a:t>use: </a:t>
            </a:r>
            <a:r>
              <a:rPr lang="fr-FR" sz="2100" dirty="0" err="1"/>
              <a:t>Parameters.SetAttributeString</a:t>
            </a:r>
            <a:r>
              <a:rPr lang="fr-FR" sz="2100" dirty="0"/>
              <a:t>("</a:t>
            </a:r>
            <a:r>
              <a:rPr lang="fr-FR" sz="2100" dirty="0" err="1"/>
              <a:t>MyLabelForPLMCompass</a:t>
            </a:r>
            <a:r>
              <a:rPr lang="fr-FR" sz="2100" dirty="0"/>
              <a:t>", &lt;Label&gt;)</a:t>
            </a:r>
          </a:p>
          <a:p>
            <a:pPr lvl="2"/>
            <a:r>
              <a:rPr lang="fr-FR" sz="2100" dirty="0"/>
              <a:t>&lt;</a:t>
            </a:r>
            <a:r>
              <a:rPr lang="fr-FR" sz="2100" dirty="0" err="1"/>
              <a:t>Color</a:t>
            </a:r>
            <a:r>
              <a:rPr lang="fr-FR" sz="2100" dirty="0"/>
              <a:t> Id&gt; </a:t>
            </a:r>
            <a:r>
              <a:rPr lang="fr-FR" sz="2100" dirty="0" err="1"/>
              <a:t>is</a:t>
            </a:r>
            <a:r>
              <a:rPr lang="fr-FR" sz="2100" dirty="0"/>
              <a:t> the value of </a:t>
            </a:r>
            <a:r>
              <a:rPr lang="fr-FR" sz="2100" dirty="0" err="1"/>
              <a:t>color</a:t>
            </a:r>
            <a:r>
              <a:rPr lang="fr-FR" sz="2100" dirty="0"/>
              <a:t> id (ex " Green ") or </a:t>
            </a:r>
            <a:r>
              <a:rPr lang="fr-FR" sz="2100" dirty="0" err="1"/>
              <a:t>legend</a:t>
            </a:r>
            <a:r>
              <a:rPr lang="fr-FR" sz="2100" dirty="0"/>
              <a:t> id (ex "OK") </a:t>
            </a:r>
            <a:r>
              <a:rPr lang="fr-FR" sz="2100" dirty="0" err="1"/>
              <a:t>defined</a:t>
            </a:r>
            <a:r>
              <a:rPr lang="fr-FR" sz="2100" dirty="0"/>
              <a:t> in </a:t>
            </a:r>
            <a:r>
              <a:rPr lang="fr-FR" sz="2100" dirty="0">
                <a:hlinkClick r:id="rId2" action="ppaction://hlinksldjump"/>
              </a:rPr>
              <a:t>The BI </a:t>
            </a:r>
            <a:r>
              <a:rPr lang="fr-FR" sz="2100" dirty="0" err="1">
                <a:hlinkClick r:id="rId2" action="ppaction://hlinksldjump"/>
              </a:rPr>
              <a:t>definition</a:t>
            </a:r>
            <a:r>
              <a:rPr lang="fr-FR" sz="2100" dirty="0">
                <a:hlinkClick r:id="rId2" action="ppaction://hlinksldjump"/>
              </a:rPr>
              <a:t> file</a:t>
            </a:r>
            <a:r>
              <a:rPr lang="fr-FR" sz="2100" dirty="0"/>
              <a:t>.</a:t>
            </a:r>
          </a:p>
          <a:p>
            <a:pPr lvl="2"/>
            <a:r>
              <a:rPr lang="fr-FR" sz="2100" dirty="0"/>
              <a:t>&lt; Label&gt; </a:t>
            </a:r>
            <a:r>
              <a:rPr lang="fr-FR" sz="2100" dirty="0" err="1"/>
              <a:t>is</a:t>
            </a:r>
            <a:r>
              <a:rPr lang="fr-FR" sz="2100" dirty="0"/>
              <a:t> a string of </a:t>
            </a:r>
            <a:r>
              <a:rPr lang="fr-FR" sz="2100" dirty="0" err="1"/>
              <a:t>this</a:t>
            </a:r>
            <a:r>
              <a:rPr lang="fr-FR" sz="2100" dirty="0"/>
              <a:t> format: </a:t>
            </a:r>
            <a:r>
              <a:rPr lang="fr-FR" sz="2100" dirty="0" smtClean="0"/>
              <a:t>&lt;</a:t>
            </a:r>
            <a:r>
              <a:rPr lang="fr-FR" sz="2100" dirty="0"/>
              <a:t>index </a:t>
            </a:r>
            <a:r>
              <a:rPr lang="fr-FR" sz="2100" dirty="0" err="1"/>
              <a:t>row</a:t>
            </a:r>
            <a:r>
              <a:rPr lang="fr-FR" sz="2100" dirty="0"/>
              <a:t>&gt;|&lt;</a:t>
            </a:r>
            <a:r>
              <a:rPr lang="fr-FR" sz="2100" dirty="0" err="1"/>
              <a:t>Text</a:t>
            </a:r>
            <a:r>
              <a:rPr lang="fr-FR" sz="2100" dirty="0"/>
              <a:t> to display&gt;|&lt;</a:t>
            </a:r>
            <a:r>
              <a:rPr lang="fr-FR" sz="2100" dirty="0" err="1"/>
              <a:t>Icon</a:t>
            </a:r>
            <a:r>
              <a:rPr lang="fr-FR" sz="2100" dirty="0"/>
              <a:t>&gt;|&lt;index </a:t>
            </a:r>
            <a:r>
              <a:rPr lang="fr-FR" sz="2100" dirty="0" err="1"/>
              <a:t>row</a:t>
            </a:r>
            <a:r>
              <a:rPr lang="fr-FR" sz="2100" dirty="0"/>
              <a:t>&gt;|&lt;</a:t>
            </a:r>
            <a:r>
              <a:rPr lang="fr-FR" sz="2100" dirty="0" err="1"/>
              <a:t>Text</a:t>
            </a:r>
            <a:r>
              <a:rPr lang="fr-FR" sz="2100" dirty="0"/>
              <a:t> to display ……</a:t>
            </a:r>
            <a:r>
              <a:rPr lang="fr-FR" sz="2100" dirty="0" err="1"/>
              <a:t>where</a:t>
            </a:r>
            <a:r>
              <a:rPr lang="fr-FR" sz="2100" dirty="0"/>
              <a:t>:</a:t>
            </a:r>
          </a:p>
          <a:p>
            <a:pPr lvl="3"/>
            <a:r>
              <a:rPr lang="fr-FR" dirty="0"/>
              <a:t>&lt;index </a:t>
            </a:r>
            <a:r>
              <a:rPr lang="fr-FR" dirty="0" err="1"/>
              <a:t>row</a:t>
            </a:r>
            <a:r>
              <a:rPr lang="fr-FR" dirty="0"/>
              <a:t>&gt; </a:t>
            </a:r>
            <a:r>
              <a:rPr lang="fr-FR" dirty="0" err="1"/>
              <a:t>is</a:t>
            </a:r>
            <a:r>
              <a:rPr lang="fr-FR" dirty="0"/>
              <a:t> the line </a:t>
            </a:r>
            <a:r>
              <a:rPr lang="fr-FR" dirty="0" err="1"/>
              <a:t>number</a:t>
            </a:r>
            <a:endParaRPr lang="fr-FR" sz="1800" dirty="0"/>
          </a:p>
          <a:p>
            <a:pPr lvl="3"/>
            <a:r>
              <a:rPr lang="fr-FR" dirty="0"/>
              <a:t>&lt;</a:t>
            </a:r>
            <a:r>
              <a:rPr lang="fr-FR" dirty="0" err="1"/>
              <a:t>Icon</a:t>
            </a:r>
            <a:r>
              <a:rPr lang="fr-FR" dirty="0"/>
              <a:t>&gt; </a:t>
            </a:r>
            <a:r>
              <a:rPr lang="fr-FR" dirty="0" err="1"/>
              <a:t>is</a:t>
            </a:r>
            <a:r>
              <a:rPr lang="fr-FR" dirty="0"/>
              <a:t> the "id" of </a:t>
            </a:r>
            <a:r>
              <a:rPr lang="fr-FR" dirty="0" err="1"/>
              <a:t>icon</a:t>
            </a:r>
            <a:r>
              <a:rPr lang="fr-FR" dirty="0"/>
              <a:t> to display at the end of the line</a:t>
            </a:r>
            <a:endParaRPr lang="fr-FR" sz="1800" dirty="0"/>
          </a:p>
          <a:p>
            <a:pPr lvl="4"/>
            <a:r>
              <a:rPr lang="fr-FR" sz="1500" dirty="0" err="1"/>
              <a:t>I_noIcon</a:t>
            </a:r>
            <a:endParaRPr lang="fr-FR" sz="1500" dirty="0"/>
          </a:p>
          <a:p>
            <a:pPr lvl="4"/>
            <a:r>
              <a:rPr lang="fr-FR" sz="1500" dirty="0" err="1"/>
              <a:t>I_Green</a:t>
            </a:r>
            <a:endParaRPr lang="fr-FR" sz="1500" dirty="0"/>
          </a:p>
          <a:p>
            <a:pPr lvl="4"/>
            <a:r>
              <a:rPr lang="fr-FR" sz="1500" dirty="0" err="1"/>
              <a:t>I_Red</a:t>
            </a:r>
            <a:endParaRPr lang="fr-FR" sz="1500" dirty="0"/>
          </a:p>
          <a:p>
            <a:pPr lvl="4"/>
            <a:r>
              <a:rPr lang="fr-FR" sz="1500" dirty="0"/>
              <a:t>……</a:t>
            </a:r>
          </a:p>
          <a:p>
            <a:pPr lvl="3"/>
            <a:endParaRPr lang="fr-FR" dirty="0"/>
          </a:p>
          <a:p>
            <a:pPr lvl="2"/>
            <a:r>
              <a:rPr lang="fr-FR" sz="1500" i="1" dirty="0" err="1"/>
              <a:t>Example</a:t>
            </a:r>
            <a:r>
              <a:rPr lang="fr-FR" sz="1500" i="1" dirty="0"/>
              <a:t> of Label:</a:t>
            </a:r>
            <a:br>
              <a:rPr lang="fr-FR" sz="1500" i="1" dirty="0"/>
            </a:br>
            <a:r>
              <a:rPr lang="fr-FR" sz="1500" i="1" dirty="0"/>
              <a:t>	"1|PPRContext </a:t>
            </a:r>
            <a:r>
              <a:rPr lang="fr-FR" sz="1500" i="1" dirty="0" err="1"/>
              <a:t>attributes</a:t>
            </a:r>
            <a:r>
              <a:rPr lang="fr-FR" sz="1500" i="1" dirty="0"/>
              <a:t>:|I_noIcon|2|Description: "+</a:t>
            </a:r>
            <a:r>
              <a:rPr lang="fr-FR" sz="1500" i="1" dirty="0" err="1"/>
              <a:t>sDescription</a:t>
            </a:r>
            <a:r>
              <a:rPr lang="fr-FR" sz="1500" i="1" dirty="0"/>
              <a:t>+"|</a:t>
            </a:r>
            <a:r>
              <a:rPr lang="fr-FR" sz="1500" i="1" dirty="0" err="1"/>
              <a:t>I_Red</a:t>
            </a:r>
            <a:r>
              <a:rPr lang="fr-FR" sz="1500" i="1" dirty="0"/>
              <a:t>"</a:t>
            </a:r>
            <a:br>
              <a:rPr lang="fr-FR" sz="1500" i="1" dirty="0"/>
            </a:br>
            <a:r>
              <a:rPr lang="fr-FR" sz="1500" i="1" dirty="0"/>
              <a:t/>
            </a:r>
            <a:br>
              <a:rPr lang="fr-FR" sz="1500" i="1" dirty="0"/>
            </a:br>
            <a:r>
              <a:rPr lang="fr-FR" sz="1500" i="1" dirty="0"/>
              <a:t>(</a:t>
            </a:r>
            <a:r>
              <a:rPr lang="fr-FR" sz="1500" i="1" dirty="0" err="1"/>
              <a:t>sDescription</a:t>
            </a:r>
            <a:r>
              <a:rPr lang="fr-FR" sz="1500" i="1" dirty="0"/>
              <a:t> </a:t>
            </a:r>
            <a:r>
              <a:rPr lang="fr-FR" sz="1500" i="1" dirty="0" err="1"/>
              <a:t>is</a:t>
            </a:r>
            <a:r>
              <a:rPr lang="fr-FR" sz="1500" i="1" dirty="0"/>
              <a:t> a string variable </a:t>
            </a:r>
            <a:r>
              <a:rPr lang="fr-FR" sz="1500" i="1" dirty="0" err="1"/>
              <a:t>containing</a:t>
            </a:r>
            <a:r>
              <a:rPr lang="fr-FR" sz="1500" i="1" dirty="0"/>
              <a:t> the description of the PPR)</a:t>
            </a:r>
            <a:br>
              <a:rPr lang="fr-FR" sz="1500" i="1" dirty="0"/>
            </a:br>
            <a:r>
              <a:rPr lang="fr-FR" sz="1500" i="1" dirty="0"/>
              <a:t>	</a:t>
            </a:r>
            <a:r>
              <a:rPr lang="fr-FR" sz="1400" i="1" dirty="0"/>
              <a:t/>
            </a:r>
            <a:br>
              <a:rPr lang="fr-FR" sz="1400" i="1" dirty="0"/>
            </a:br>
            <a:r>
              <a:rPr lang="fr-FR" sz="1400" i="1" dirty="0"/>
              <a:t>	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Customize B.I. Essentials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8442" y="5882238"/>
            <a:ext cx="2915057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1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5" y="1002537"/>
            <a:ext cx="9710539" cy="899415"/>
          </a:xfrm>
        </p:spPr>
        <p:txBody>
          <a:bodyPr>
            <a:normAutofit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err="1" smtClean="0"/>
              <a:t>Resultat</a:t>
            </a:r>
            <a:r>
              <a:rPr lang="en-US" dirty="0"/>
              <a:t>:</a:t>
            </a:r>
            <a:r>
              <a:rPr lang="fr-FR" sz="1400" i="1" dirty="0"/>
              <a:t/>
            </a:r>
            <a:br>
              <a:rPr lang="fr-FR" sz="1400" i="1" dirty="0"/>
            </a:br>
            <a:r>
              <a:rPr lang="fr-FR" sz="1400" i="1" dirty="0"/>
              <a:t>	</a:t>
            </a:r>
            <a:br>
              <a:rPr lang="fr-FR" sz="1400" i="1" dirty="0"/>
            </a:br>
            <a:r>
              <a:rPr lang="fr-FR" sz="1400" i="1" dirty="0"/>
              <a:t>	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Customize B.I. Essentials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460" y="1726286"/>
            <a:ext cx="8157182" cy="4674514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04" y="1726286"/>
            <a:ext cx="2686425" cy="131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3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5" y="1002537"/>
            <a:ext cx="9710539" cy="2530705"/>
          </a:xfrm>
        </p:spPr>
        <p:txBody>
          <a:bodyPr>
            <a:normAutofit fontScale="85000" lnSpcReduction="2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B.I. Essentials Checker is a tool:</a:t>
            </a:r>
          </a:p>
          <a:p>
            <a:pPr lvl="2"/>
            <a:r>
              <a:rPr lang="fr-FR" dirty="0" smtClean="0"/>
              <a:t>Accessible at the </a:t>
            </a:r>
            <a:r>
              <a:rPr lang="fr-FR" dirty="0" err="1" smtClean="0"/>
              <a:t>bottom</a:t>
            </a:r>
            <a:r>
              <a:rPr lang="fr-FR" dirty="0" smtClean="0"/>
              <a:t> of B.I. Essentials drop down </a:t>
            </a:r>
            <a:r>
              <a:rPr lang="fr-FR" dirty="0" err="1" smtClean="0"/>
              <a:t>list</a:t>
            </a:r>
            <a:r>
              <a:rPr lang="fr-FR" dirty="0" smtClean="0"/>
              <a:t>.</a:t>
            </a:r>
          </a:p>
          <a:p>
            <a:pPr lvl="2"/>
            <a:r>
              <a:rPr lang="fr-FR" dirty="0" smtClean="0"/>
              <a:t>Show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BICusto</a:t>
            </a:r>
            <a:r>
              <a:rPr lang="fr-FR" dirty="0" smtClean="0"/>
              <a:t> file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searched</a:t>
            </a:r>
            <a:r>
              <a:rPr lang="fr-FR" dirty="0" smtClean="0"/>
              <a:t>.</a:t>
            </a:r>
          </a:p>
          <a:p>
            <a:pPr lvl="2"/>
            <a:r>
              <a:rPr lang="fr-FR" dirty="0" smtClean="0"/>
              <a:t>Can show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attributes</a:t>
            </a:r>
            <a:r>
              <a:rPr lang="fr-FR" dirty="0" smtClean="0"/>
              <a:t> are accessibles (in </a:t>
            </a:r>
            <a:r>
              <a:rPr lang="fr-FR" dirty="0" err="1" smtClean="0"/>
              <a:t>CATRule</a:t>
            </a:r>
            <a:r>
              <a:rPr lang="fr-FR" dirty="0" smtClean="0"/>
              <a:t>/EKL Script) for a </a:t>
            </a:r>
            <a:r>
              <a:rPr lang="fr-FR" dirty="0" err="1" smtClean="0"/>
              <a:t>given</a:t>
            </a:r>
            <a:r>
              <a:rPr lang="fr-FR" dirty="0" smtClean="0"/>
              <a:t> type.</a:t>
            </a:r>
          </a:p>
          <a:p>
            <a:pPr lvl="2"/>
            <a:r>
              <a:rPr lang="fr-FR" dirty="0" smtClean="0"/>
              <a:t>Can show </a:t>
            </a:r>
            <a:r>
              <a:rPr lang="fr-FR" dirty="0" err="1" smtClean="0"/>
              <a:t>syntax</a:t>
            </a:r>
            <a:r>
              <a:rPr lang="fr-FR" dirty="0" smtClean="0"/>
              <a:t> </a:t>
            </a:r>
            <a:r>
              <a:rPr lang="fr-FR" dirty="0" err="1" smtClean="0"/>
              <a:t>errors</a:t>
            </a:r>
            <a:r>
              <a:rPr lang="fr-FR" dirty="0" smtClean="0"/>
              <a:t>.</a:t>
            </a:r>
          </a:p>
          <a:p>
            <a:pPr lvl="2"/>
            <a:r>
              <a:rPr lang="fr-FR" dirty="0" smtClean="0"/>
              <a:t>Can </a:t>
            </a:r>
            <a:r>
              <a:rPr lang="fr-FR" dirty="0" err="1" smtClean="0"/>
              <a:t>reload</a:t>
            </a:r>
            <a:r>
              <a:rPr lang="fr-FR" dirty="0" smtClean="0"/>
              <a:t> </a:t>
            </a:r>
            <a:r>
              <a:rPr lang="fr-FR" dirty="0" err="1" smtClean="0"/>
              <a:t>customization</a:t>
            </a:r>
            <a:r>
              <a:rPr lang="fr-FR" dirty="0" smtClean="0"/>
              <a:t> </a:t>
            </a:r>
            <a:r>
              <a:rPr lang="fr-FR" dirty="0" err="1" smtClean="0"/>
              <a:t>definition</a:t>
            </a:r>
            <a:r>
              <a:rPr lang="fr-FR" dirty="0" smtClean="0"/>
              <a:t> files.</a:t>
            </a:r>
          </a:p>
          <a:p>
            <a:pPr lvl="2"/>
            <a:r>
              <a:rPr lang="fr-FR" dirty="0" smtClean="0"/>
              <a:t>Can </a:t>
            </a:r>
            <a:r>
              <a:rPr lang="fr-FR" dirty="0" err="1" smtClean="0"/>
              <a:t>analyze</a:t>
            </a:r>
            <a:r>
              <a:rPr lang="fr-FR" dirty="0" smtClean="0"/>
              <a:t> a </a:t>
            </a:r>
            <a:r>
              <a:rPr lang="fr-FR" dirty="0" err="1" smtClean="0"/>
              <a:t>given</a:t>
            </a:r>
            <a:r>
              <a:rPr lang="fr-FR" dirty="0" smtClean="0"/>
              <a:t> </a:t>
            </a:r>
            <a:r>
              <a:rPr lang="fr-FR" dirty="0" err="1" smtClean="0"/>
              <a:t>customized</a:t>
            </a:r>
            <a:r>
              <a:rPr lang="fr-FR" dirty="0" smtClean="0"/>
              <a:t> BI</a:t>
            </a:r>
            <a:r>
              <a:rPr lang="fr-FR" sz="1400" i="1" dirty="0"/>
              <a:t/>
            </a:r>
            <a:br>
              <a:rPr lang="fr-FR" sz="1400" i="1" dirty="0"/>
            </a:br>
            <a:r>
              <a:rPr lang="fr-FR" sz="1400" i="1" dirty="0"/>
              <a:t>	</a:t>
            </a:r>
            <a:br>
              <a:rPr lang="fr-FR" sz="1400" i="1" dirty="0"/>
            </a:br>
            <a:r>
              <a:rPr lang="fr-FR" sz="1400" i="1" dirty="0"/>
              <a:t>	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B.I. Essentials CHECKER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Content Placeholder 8"/>
          <p:cNvSpPr txBox="1">
            <a:spLocks/>
          </p:cNvSpPr>
          <p:nvPr/>
        </p:nvSpPr>
        <p:spPr>
          <a:xfrm>
            <a:off x="317380" y="3528720"/>
            <a:ext cx="9710539" cy="633629"/>
          </a:xfrm>
          <a:prstGeom prst="rect">
            <a:avLst/>
          </a:prstGeom>
        </p:spPr>
        <p:txBody>
          <a:bodyPr vert="horz" lIns="0" tIns="91440" rIns="0" bIns="45720" rtlCol="0">
            <a:normAutofit fontScale="85000" lnSpcReduction="20000"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B.I. Essentials Checker Accessibility:</a:t>
            </a:r>
            <a:r>
              <a:rPr lang="fr-FR" sz="1400" i="1" dirty="0" smtClean="0"/>
              <a:t/>
            </a:r>
            <a:br>
              <a:rPr lang="fr-FR" sz="1400" i="1" dirty="0" smtClean="0"/>
            </a:br>
            <a:r>
              <a:rPr lang="fr-FR" sz="1400" i="1" dirty="0" smtClean="0"/>
              <a:t>	</a:t>
            </a:r>
            <a:br>
              <a:rPr lang="fr-FR" sz="1400" i="1" dirty="0" smtClean="0"/>
            </a:br>
            <a:r>
              <a:rPr lang="fr-FR" sz="1400" i="1" dirty="0" smtClean="0"/>
              <a:t>	</a:t>
            </a:r>
            <a:endParaRPr lang="fr-FR" sz="1400" i="1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71" y="4084555"/>
            <a:ext cx="2686425" cy="2343477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766" y="3935578"/>
            <a:ext cx="5921340" cy="2641432"/>
          </a:xfrm>
          <a:prstGeom prst="rect">
            <a:avLst/>
          </a:prstGeom>
        </p:spPr>
      </p:pic>
      <p:sp>
        <p:nvSpPr>
          <p:cNvPr id="11" name="Chevron 10"/>
          <p:cNvSpPr/>
          <p:nvPr/>
        </p:nvSpPr>
        <p:spPr>
          <a:xfrm>
            <a:off x="4387082" y="5045475"/>
            <a:ext cx="451691" cy="421637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24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5" y="1002537"/>
            <a:ext cx="9710539" cy="1228599"/>
          </a:xfrm>
        </p:spPr>
        <p:txBody>
          <a:bodyPr>
            <a:normAutofit fontScale="77500" lnSpcReduction="2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B.I. Essentials Checker – Where </a:t>
            </a:r>
            <a:r>
              <a:rPr lang="en-US" dirty="0" err="1" smtClean="0"/>
              <a:t>BICusto</a:t>
            </a:r>
            <a:r>
              <a:rPr lang="en-US" dirty="0" smtClean="0"/>
              <a:t> file is searched:</a:t>
            </a:r>
          </a:p>
          <a:p>
            <a:pPr lvl="2"/>
            <a:r>
              <a:rPr lang="fr-FR" dirty="0" smtClean="0"/>
              <a:t>Once B.I. Essentials </a:t>
            </a:r>
            <a:r>
              <a:rPr lang="fr-FR" dirty="0" err="1" smtClean="0"/>
              <a:t>Checker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launched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BICusto</a:t>
            </a:r>
            <a:r>
              <a:rPr lang="fr-FR" dirty="0" smtClean="0"/>
              <a:t> </a:t>
            </a:r>
            <a:r>
              <a:rPr lang="fr-FR" dirty="0" smtClean="0"/>
              <a:t>file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searched</a:t>
            </a:r>
            <a:r>
              <a:rPr lang="fr-FR" dirty="0" smtClean="0"/>
              <a:t>.</a:t>
            </a:r>
            <a:br>
              <a:rPr lang="fr-FR" dirty="0" smtClean="0"/>
            </a:br>
            <a:r>
              <a:rPr lang="fr-FR" sz="1900" dirty="0"/>
              <a:t>(</a:t>
            </a:r>
            <a:r>
              <a:rPr lang="fr-FR" sz="1900" dirty="0"/>
              <a:t>an</a:t>
            </a:r>
            <a:r>
              <a:rPr lang="fr-FR" sz="1900" dirty="0"/>
              <a:t>d </a:t>
            </a:r>
            <a:r>
              <a:rPr lang="fr-FR" sz="1900" dirty="0" err="1" smtClean="0"/>
              <a:t>below</a:t>
            </a:r>
            <a:r>
              <a:rPr lang="fr-FR" sz="1900" dirty="0" smtClean="0"/>
              <a:t> </a:t>
            </a:r>
            <a:r>
              <a:rPr lang="fr-FR" sz="1900" dirty="0" err="1"/>
              <a:t>where</a:t>
            </a:r>
            <a:r>
              <a:rPr lang="fr-FR" sz="1900" dirty="0"/>
              <a:t> </a:t>
            </a:r>
            <a:r>
              <a:rPr lang="fr-FR" sz="1900" dirty="0" err="1"/>
              <a:t>Resources</a:t>
            </a:r>
            <a:r>
              <a:rPr lang="fr-FR" sz="1900" dirty="0"/>
              <a:t> </a:t>
            </a:r>
            <a:r>
              <a:rPr lang="fr-FR" sz="1900" dirty="0" smtClean="0"/>
              <a:t>files </a:t>
            </a:r>
            <a:r>
              <a:rPr lang="fr-FR" sz="1900" dirty="0" err="1"/>
              <a:t>is</a:t>
            </a:r>
            <a:r>
              <a:rPr lang="fr-FR" sz="1900" dirty="0"/>
              <a:t> </a:t>
            </a:r>
            <a:r>
              <a:rPr lang="fr-FR" sz="1900" dirty="0" err="1"/>
              <a:t>searched</a:t>
            </a:r>
            <a:r>
              <a:rPr lang="fr-FR" sz="1900" dirty="0"/>
              <a:t>)</a:t>
            </a:r>
            <a:r>
              <a:rPr lang="fr-FR" sz="1400" i="1" dirty="0"/>
              <a:t/>
            </a:r>
            <a:br>
              <a:rPr lang="fr-FR" sz="1400" i="1" dirty="0"/>
            </a:br>
            <a:r>
              <a:rPr lang="fr-FR" sz="1400" i="1" dirty="0"/>
              <a:t>	</a:t>
            </a:r>
            <a:br>
              <a:rPr lang="fr-FR" sz="1400" i="1" dirty="0"/>
            </a:br>
            <a:r>
              <a:rPr lang="fr-FR" sz="1400" i="1" dirty="0"/>
              <a:t>	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B.I. Essentials CHECKER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12" name="Groupe 11"/>
          <p:cNvGrpSpPr/>
          <p:nvPr/>
        </p:nvGrpSpPr>
        <p:grpSpPr>
          <a:xfrm>
            <a:off x="669566" y="2053516"/>
            <a:ext cx="10058400" cy="4486920"/>
            <a:chOff x="618360" y="1899896"/>
            <a:chExt cx="10058400" cy="4486920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360" y="1899896"/>
              <a:ext cx="10058400" cy="4486920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760781" y="4143356"/>
              <a:ext cx="7556601" cy="16795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 smtClean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811987" y="6108192"/>
            <a:ext cx="3182112" cy="5120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5120641" y="1411835"/>
            <a:ext cx="1492300" cy="2852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1799540" y="1856842"/>
            <a:ext cx="1894636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</p:spTree>
    <p:extLst>
      <p:ext uri="{BB962C8B-B14F-4D97-AF65-F5344CB8AC3E}">
        <p14:creationId xmlns:p14="http://schemas.microsoft.com/office/powerpoint/2010/main" val="333136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5" y="1002537"/>
            <a:ext cx="9710539" cy="2691639"/>
          </a:xfrm>
        </p:spPr>
        <p:txBody>
          <a:bodyPr>
            <a:normAutofit fontScale="85000" lnSpcReduction="2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B.I. Essentials Checker – Show </a:t>
            </a:r>
            <a:r>
              <a:rPr lang="en-US" dirty="0" err="1" smtClean="0"/>
              <a:t>accessibles</a:t>
            </a:r>
            <a:r>
              <a:rPr lang="en-US" dirty="0" smtClean="0"/>
              <a:t> attributes:</a:t>
            </a:r>
          </a:p>
          <a:p>
            <a:pPr lvl="2"/>
            <a:r>
              <a:rPr lang="fr-FR" dirty="0" smtClean="0"/>
              <a:t>Click the "Check an item type" </a:t>
            </a:r>
            <a:r>
              <a:rPr lang="fr-FR" dirty="0" err="1" smtClean="0"/>
              <a:t>button</a:t>
            </a:r>
            <a:r>
              <a:rPr lang="fr-FR" dirty="0" smtClean="0"/>
              <a:t>, in the top-</a:t>
            </a:r>
            <a:r>
              <a:rPr lang="fr-FR" dirty="0" err="1" smtClean="0"/>
              <a:t>left</a:t>
            </a:r>
            <a:r>
              <a:rPr lang="fr-FR" dirty="0" smtClean="0"/>
              <a:t> corner.</a:t>
            </a:r>
          </a:p>
          <a:p>
            <a:pPr lvl="2"/>
            <a:r>
              <a:rPr lang="fr-FR" dirty="0" smtClean="0"/>
              <a:t>The B.I. Essentials </a:t>
            </a:r>
            <a:r>
              <a:rPr lang="fr-FR" dirty="0" err="1" smtClean="0"/>
              <a:t>Checker</a:t>
            </a:r>
            <a:r>
              <a:rPr lang="fr-FR" dirty="0" smtClean="0"/>
              <a:t> </a:t>
            </a:r>
            <a:r>
              <a:rPr lang="fr-FR" dirty="0" err="1" smtClean="0"/>
              <a:t>windows</a:t>
            </a:r>
            <a:r>
              <a:rPr lang="fr-FR" dirty="0" smtClean="0"/>
              <a:t> </a:t>
            </a:r>
            <a:r>
              <a:rPr lang="fr-FR" dirty="0" err="1" smtClean="0"/>
              <a:t>disappears</a:t>
            </a:r>
            <a:r>
              <a:rPr lang="fr-FR" dirty="0" smtClean="0"/>
              <a:t>.</a:t>
            </a:r>
          </a:p>
          <a:p>
            <a:pPr lvl="2"/>
            <a:r>
              <a:rPr lang="fr-FR" dirty="0" smtClean="0"/>
              <a:t>Select, in the </a:t>
            </a:r>
            <a:r>
              <a:rPr lang="fr-FR" dirty="0" err="1" smtClean="0"/>
              <a:t>tree</a:t>
            </a:r>
            <a:r>
              <a:rPr lang="fr-FR" dirty="0" smtClean="0"/>
              <a:t>, or the </a:t>
            </a:r>
            <a:r>
              <a:rPr lang="fr-FR" dirty="0" err="1" smtClean="0"/>
              <a:t>geometry</a:t>
            </a:r>
            <a:r>
              <a:rPr lang="fr-FR" dirty="0" smtClean="0"/>
              <a:t> of, the </a:t>
            </a:r>
            <a:r>
              <a:rPr lang="fr-FR" dirty="0" err="1" smtClean="0"/>
              <a:t>object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check.</a:t>
            </a:r>
          </a:p>
          <a:p>
            <a:pPr lvl="2"/>
            <a:r>
              <a:rPr lang="fr-FR" dirty="0" smtClean="0"/>
              <a:t>The B.I. Essentials </a:t>
            </a:r>
            <a:r>
              <a:rPr lang="fr-FR" dirty="0" err="1" smtClean="0"/>
              <a:t>Checker</a:t>
            </a:r>
            <a:r>
              <a:rPr lang="fr-FR" dirty="0" smtClean="0"/>
              <a:t> </a:t>
            </a:r>
            <a:r>
              <a:rPr lang="fr-FR" dirty="0" err="1" smtClean="0"/>
              <a:t>windows</a:t>
            </a:r>
            <a:r>
              <a:rPr lang="fr-FR" dirty="0" smtClean="0"/>
              <a:t> </a:t>
            </a:r>
            <a:r>
              <a:rPr lang="fr-FR" dirty="0" err="1" smtClean="0"/>
              <a:t>reappers</a:t>
            </a:r>
            <a:r>
              <a:rPr lang="fr-FR" dirty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:</a:t>
            </a:r>
          </a:p>
          <a:p>
            <a:pPr lvl="3"/>
            <a:r>
              <a:rPr lang="fr-FR" dirty="0" err="1" smtClean="0"/>
              <a:t>Technical</a:t>
            </a:r>
            <a:r>
              <a:rPr lang="fr-FR" dirty="0" smtClean="0"/>
              <a:t> Type (1), </a:t>
            </a:r>
            <a:r>
              <a:rPr lang="fr-FR" dirty="0" err="1" smtClean="0"/>
              <a:t>is</a:t>
            </a:r>
            <a:r>
              <a:rPr lang="fr-FR" dirty="0" smtClean="0"/>
              <a:t> the string to use in </a:t>
            </a:r>
            <a:r>
              <a:rPr lang="fr-FR" dirty="0" err="1" smtClean="0"/>
              <a:t>TypeRuleDefinition</a:t>
            </a:r>
            <a:r>
              <a:rPr lang="fr-FR" dirty="0" smtClean="0"/>
              <a:t> </a:t>
            </a:r>
            <a:r>
              <a:rPr lang="fr-FR" dirty="0" err="1" smtClean="0"/>
              <a:t>resource</a:t>
            </a:r>
            <a:r>
              <a:rPr lang="fr-FR" dirty="0" smtClean="0"/>
              <a:t> file.</a:t>
            </a:r>
          </a:p>
          <a:p>
            <a:pPr lvl="3"/>
            <a:r>
              <a:rPr lang="fr-FR" dirty="0" err="1" smtClean="0"/>
              <a:t>Attributes</a:t>
            </a:r>
            <a:r>
              <a:rPr lang="fr-FR" dirty="0" smtClean="0"/>
              <a:t> accessibles (2) (in the </a:t>
            </a:r>
            <a:r>
              <a:rPr lang="fr-FR" dirty="0" err="1" smtClean="0"/>
              <a:t>CATRule</a:t>
            </a:r>
            <a:r>
              <a:rPr lang="fr-FR" dirty="0" smtClean="0"/>
              <a:t>/Script EKL)</a:t>
            </a:r>
          </a:p>
          <a:p>
            <a:pPr marL="284156" lvl="2" indent="0">
              <a:buNone/>
            </a:pPr>
            <a:r>
              <a:rPr lang="fr-FR" sz="1400" i="1" dirty="0"/>
              <a:t/>
            </a:r>
            <a:br>
              <a:rPr lang="fr-FR" sz="1400" i="1" dirty="0"/>
            </a:br>
            <a:r>
              <a:rPr lang="fr-FR" sz="1400" i="1" dirty="0"/>
              <a:t>	</a:t>
            </a:r>
            <a:br>
              <a:rPr lang="fr-FR" sz="1400" i="1" dirty="0"/>
            </a:br>
            <a:r>
              <a:rPr lang="fr-FR" sz="1400" i="1" dirty="0"/>
              <a:t>	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B.I. Essentials CHECKER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23" name="Groupe 22"/>
          <p:cNvGrpSpPr/>
          <p:nvPr/>
        </p:nvGrpSpPr>
        <p:grpSpPr>
          <a:xfrm>
            <a:off x="2713939" y="3181747"/>
            <a:ext cx="7480017" cy="3336737"/>
            <a:chOff x="2713939" y="3181747"/>
            <a:chExt cx="7480017" cy="3336737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3939" y="3181747"/>
              <a:ext cx="7480017" cy="3336737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591763" y="3430829"/>
              <a:ext cx="1865376" cy="14630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 smtClean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811475" y="3825850"/>
              <a:ext cx="3523488" cy="251642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 smtClean="0"/>
            </a:p>
          </p:txBody>
        </p:sp>
        <p:sp>
          <p:nvSpPr>
            <p:cNvPr id="13" name="Ellipse 12"/>
            <p:cNvSpPr/>
            <p:nvPr/>
          </p:nvSpPr>
          <p:spPr>
            <a:xfrm>
              <a:off x="5933930" y="3217115"/>
              <a:ext cx="319489" cy="27542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 smtClean="0"/>
            </a:p>
          </p:txBody>
        </p:sp>
        <p:sp>
          <p:nvSpPr>
            <p:cNvPr id="14" name="Ellipse 13"/>
            <p:cNvSpPr/>
            <p:nvPr/>
          </p:nvSpPr>
          <p:spPr>
            <a:xfrm>
              <a:off x="7629837" y="4254654"/>
              <a:ext cx="319489" cy="27542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 smtClean="0"/>
            </a:p>
          </p:txBody>
        </p:sp>
        <p:cxnSp>
          <p:nvCxnSpPr>
            <p:cNvPr id="16" name="Connecteur droit 15"/>
            <p:cNvCxnSpPr>
              <a:stCxn id="13" idx="2"/>
              <a:endCxn id="6" idx="3"/>
            </p:cNvCxnSpPr>
            <p:nvPr/>
          </p:nvCxnSpPr>
          <p:spPr>
            <a:xfrm flipH="1">
              <a:off x="5457139" y="3354826"/>
              <a:ext cx="476791" cy="14915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>
              <a:stCxn id="14" idx="2"/>
              <a:endCxn id="12" idx="3"/>
            </p:cNvCxnSpPr>
            <p:nvPr/>
          </p:nvCxnSpPr>
          <p:spPr>
            <a:xfrm flipH="1">
              <a:off x="6334963" y="4392365"/>
              <a:ext cx="1294874" cy="69169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ZoneTexte 20"/>
            <p:cNvSpPr txBox="1"/>
            <p:nvPr/>
          </p:nvSpPr>
          <p:spPr>
            <a:xfrm>
              <a:off x="6036767" y="3217115"/>
              <a:ext cx="113814" cy="292388"/>
            </a:xfrm>
            <a:prstGeom prst="rect">
              <a:avLst/>
            </a:prstGeom>
            <a:noFill/>
          </p:spPr>
          <p:txBody>
            <a:bodyPr wrap="none" lIns="0" tIns="0" rIns="0" bIns="45720" rtlCol="0">
              <a:spAutoFit/>
            </a:bodyPr>
            <a:lstStyle/>
            <a:p>
              <a:r>
                <a:rPr lang="fr-FR" sz="1600" dirty="0" smtClean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2" name="ZoneTexte 21"/>
            <p:cNvSpPr txBox="1"/>
            <p:nvPr/>
          </p:nvSpPr>
          <p:spPr>
            <a:xfrm>
              <a:off x="7732674" y="4254654"/>
              <a:ext cx="113814" cy="292388"/>
            </a:xfrm>
            <a:prstGeom prst="rect">
              <a:avLst/>
            </a:prstGeom>
            <a:noFill/>
          </p:spPr>
          <p:txBody>
            <a:bodyPr wrap="none" lIns="0" tIns="0" rIns="0" bIns="45720" rtlCol="0">
              <a:spAutoFit/>
            </a:bodyPr>
            <a:lstStyle/>
            <a:p>
              <a:r>
                <a:rPr lang="fr-FR" sz="1600" dirty="0" smtClean="0">
                  <a:solidFill>
                    <a:srgbClr val="FF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265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5" y="1002537"/>
            <a:ext cx="9710539" cy="1901598"/>
          </a:xfrm>
        </p:spPr>
        <p:txBody>
          <a:bodyPr>
            <a:normAutofit fontScale="85000" lnSpcReduction="2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B.I. Essentials Checker – Show syntax errors:</a:t>
            </a:r>
          </a:p>
          <a:p>
            <a:pPr lvl="2"/>
            <a:r>
              <a:rPr lang="fr-FR" dirty="0" smtClean="0"/>
              <a:t>Click the "Check </a:t>
            </a:r>
            <a:r>
              <a:rPr lang="fr-FR" dirty="0" err="1" smtClean="0"/>
              <a:t>CATRules</a:t>
            </a:r>
            <a:r>
              <a:rPr lang="fr-FR" dirty="0" smtClean="0"/>
              <a:t> </a:t>
            </a:r>
            <a:r>
              <a:rPr lang="fr-FR" dirty="0" err="1" smtClean="0"/>
              <a:t>definition</a:t>
            </a:r>
            <a:r>
              <a:rPr lang="fr-FR" dirty="0" smtClean="0"/>
              <a:t>" </a:t>
            </a:r>
            <a:r>
              <a:rPr lang="fr-FR" dirty="0" err="1" smtClean="0"/>
              <a:t>button</a:t>
            </a:r>
            <a:r>
              <a:rPr lang="fr-FR" dirty="0" smtClean="0"/>
              <a:t>, in the top-right corner (1).</a:t>
            </a:r>
          </a:p>
          <a:p>
            <a:pPr lvl="2"/>
            <a:r>
              <a:rPr lang="fr-FR" dirty="0" smtClean="0"/>
              <a:t>The B.I. Essentials </a:t>
            </a:r>
            <a:r>
              <a:rPr lang="fr-FR" dirty="0" err="1" smtClean="0"/>
              <a:t>Checker</a:t>
            </a:r>
            <a:r>
              <a:rPr lang="fr-FR" dirty="0" smtClean="0"/>
              <a:t> shows (2), for </a:t>
            </a:r>
            <a:r>
              <a:rPr lang="fr-FR" dirty="0" err="1" smtClean="0"/>
              <a:t>each</a:t>
            </a:r>
            <a:r>
              <a:rPr lang="fr-FR" dirty="0" smtClean="0"/>
              <a:t> association </a:t>
            </a:r>
            <a:r>
              <a:rPr lang="fr-FR" dirty="0" err="1" smtClean="0"/>
              <a:t>color</a:t>
            </a:r>
            <a:r>
              <a:rPr lang="fr-FR" dirty="0" smtClean="0"/>
              <a:t>/type and label type:</a:t>
            </a:r>
          </a:p>
          <a:p>
            <a:pPr lvl="3"/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CATRule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founded</a:t>
            </a:r>
            <a:endParaRPr lang="fr-FR" dirty="0" smtClean="0"/>
          </a:p>
          <a:p>
            <a:pPr lvl="3"/>
            <a:r>
              <a:rPr lang="fr-FR" dirty="0" err="1" smtClean="0"/>
              <a:t>Syntax</a:t>
            </a:r>
            <a:r>
              <a:rPr lang="fr-FR" dirty="0" smtClean="0"/>
              <a:t> </a:t>
            </a:r>
            <a:r>
              <a:rPr lang="fr-FR" dirty="0" err="1" smtClean="0"/>
              <a:t>errors</a:t>
            </a:r>
            <a:r>
              <a:rPr lang="fr-FR" dirty="0" smtClean="0"/>
              <a:t> (if </a:t>
            </a:r>
            <a:r>
              <a:rPr lang="fr-FR" dirty="0" err="1" smtClean="0"/>
              <a:t>there</a:t>
            </a:r>
            <a:r>
              <a:rPr lang="fr-FR" dirty="0" smtClean="0"/>
              <a:t> has)</a:t>
            </a:r>
          </a:p>
          <a:p>
            <a:pPr marL="284156" lvl="2" indent="0">
              <a:buNone/>
            </a:pPr>
            <a:r>
              <a:rPr lang="fr-FR" sz="1400" i="1" dirty="0"/>
              <a:t/>
            </a:r>
            <a:br>
              <a:rPr lang="fr-FR" sz="1400" i="1" dirty="0"/>
            </a:br>
            <a:r>
              <a:rPr lang="fr-FR" sz="1400" i="1" dirty="0"/>
              <a:t>	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B.I. Essentials CHECKER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940" y="3189062"/>
            <a:ext cx="7480014" cy="33367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89580" y="3423514"/>
            <a:ext cx="1021045" cy="166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2811474" y="3752850"/>
            <a:ext cx="5672125" cy="1250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  <p:sp>
        <p:nvSpPr>
          <p:cNvPr id="13" name="Ellipse 12"/>
          <p:cNvSpPr/>
          <p:nvPr/>
        </p:nvSpPr>
        <p:spPr>
          <a:xfrm>
            <a:off x="5933930" y="3217115"/>
            <a:ext cx="319489" cy="27542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  <p:sp>
        <p:nvSpPr>
          <p:cNvPr id="14" name="Ellipse 13"/>
          <p:cNvSpPr/>
          <p:nvPr/>
        </p:nvSpPr>
        <p:spPr>
          <a:xfrm>
            <a:off x="8834399" y="4246964"/>
            <a:ext cx="319489" cy="27542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  <p:cxnSp>
        <p:nvCxnSpPr>
          <p:cNvPr id="16" name="Connecteur droit 15"/>
          <p:cNvCxnSpPr>
            <a:stCxn id="13" idx="6"/>
            <a:endCxn id="6" idx="1"/>
          </p:cNvCxnSpPr>
          <p:nvPr/>
        </p:nvCxnSpPr>
        <p:spPr>
          <a:xfrm>
            <a:off x="6253419" y="3354826"/>
            <a:ext cx="1536161" cy="1521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>
            <a:stCxn id="14" idx="2"/>
            <a:endCxn id="12" idx="3"/>
          </p:cNvCxnSpPr>
          <p:nvPr/>
        </p:nvCxnSpPr>
        <p:spPr>
          <a:xfrm flipH="1" flipV="1">
            <a:off x="8483599" y="4378325"/>
            <a:ext cx="350800" cy="63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6036767" y="3217115"/>
            <a:ext cx="113814" cy="292388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8937236" y="4246964"/>
            <a:ext cx="113814" cy="292388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8626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930" y="3146104"/>
            <a:ext cx="5585572" cy="3152253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2" y="3146103"/>
            <a:ext cx="5586332" cy="3152681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25915" y="1002537"/>
            <a:ext cx="9710539" cy="1901598"/>
          </a:xfrm>
        </p:spPr>
        <p:txBody>
          <a:bodyPr>
            <a:normAutofit fontScale="85000" lnSpcReduction="10000"/>
          </a:bodyPr>
          <a:lstStyle/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dirty="0" smtClean="0"/>
              <a:t>B.I. Essentials Checker – Reload &amp; </a:t>
            </a:r>
            <a:r>
              <a:rPr lang="en-US" dirty="0" err="1" smtClean="0"/>
              <a:t>Analyse</a:t>
            </a:r>
            <a:r>
              <a:rPr lang="en-US" dirty="0" smtClean="0"/>
              <a:t>:</a:t>
            </a:r>
          </a:p>
          <a:p>
            <a:pPr lvl="2"/>
            <a:r>
              <a:rPr lang="fr-FR" dirty="0" smtClean="0"/>
              <a:t>Click the "</a:t>
            </a:r>
            <a:r>
              <a:rPr lang="fr-FR" dirty="0" err="1" smtClean="0"/>
              <a:t>Reload</a:t>
            </a:r>
            <a:r>
              <a:rPr lang="fr-FR" dirty="0" smtClean="0"/>
              <a:t> </a:t>
            </a:r>
            <a:r>
              <a:rPr lang="fr-FR" dirty="0" err="1" smtClean="0"/>
              <a:t>Custo</a:t>
            </a:r>
            <a:r>
              <a:rPr lang="fr-FR" dirty="0" smtClean="0"/>
              <a:t> </a:t>
            </a:r>
            <a:r>
              <a:rPr lang="fr-FR" dirty="0" err="1" smtClean="0"/>
              <a:t>Definition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files" </a:t>
            </a:r>
            <a:r>
              <a:rPr lang="fr-FR" dirty="0" err="1" smtClean="0"/>
              <a:t>button</a:t>
            </a:r>
            <a:r>
              <a:rPr lang="fr-FR" dirty="0" smtClean="0"/>
              <a:t>, in the top-right corner (1) to </a:t>
            </a:r>
            <a:r>
              <a:rPr lang="fr-FR" dirty="0" err="1" smtClean="0"/>
              <a:t>reload</a:t>
            </a:r>
            <a:r>
              <a:rPr lang="fr-FR" dirty="0" smtClean="0"/>
              <a:t> the </a:t>
            </a:r>
            <a:r>
              <a:rPr lang="fr-FR" dirty="0" err="1" smtClean="0"/>
              <a:t>customization</a:t>
            </a:r>
            <a:r>
              <a:rPr lang="fr-FR" dirty="0" smtClean="0"/>
              <a:t> (in case of change </a:t>
            </a:r>
            <a:r>
              <a:rPr lang="fr-FR" dirty="0" err="1" smtClean="0"/>
              <a:t>during</a:t>
            </a:r>
            <a:r>
              <a:rPr lang="fr-FR" dirty="0" smtClean="0"/>
              <a:t> the session, </a:t>
            </a:r>
            <a:r>
              <a:rPr lang="fr-FR" dirty="0" err="1" smtClean="0"/>
              <a:t>may</a:t>
            </a:r>
            <a:r>
              <a:rPr lang="fr-FR" dirty="0" smtClean="0"/>
              <a:t> not </a:t>
            </a:r>
            <a:r>
              <a:rPr lang="fr-FR" dirty="0" err="1" smtClean="0"/>
              <a:t>work</a:t>
            </a:r>
            <a:r>
              <a:rPr lang="fr-FR" dirty="0" smtClean="0"/>
              <a:t>, in </a:t>
            </a:r>
            <a:r>
              <a:rPr lang="fr-FR" dirty="0" err="1" smtClean="0"/>
              <a:t>this</a:t>
            </a:r>
            <a:r>
              <a:rPr lang="fr-FR" dirty="0" smtClean="0"/>
              <a:t> case restart the session).</a:t>
            </a:r>
          </a:p>
          <a:p>
            <a:pPr lvl="2"/>
            <a:r>
              <a:rPr lang="fr-FR" dirty="0" smtClean="0"/>
              <a:t>Select </a:t>
            </a:r>
            <a:r>
              <a:rPr lang="fr-FR" dirty="0" err="1" smtClean="0"/>
              <a:t>your</a:t>
            </a:r>
            <a:r>
              <a:rPr lang="fr-FR" dirty="0" smtClean="0"/>
              <a:t> BI in "Select BI to analyse" drop-down </a:t>
            </a:r>
            <a:r>
              <a:rPr lang="fr-FR" dirty="0" err="1" smtClean="0"/>
              <a:t>list</a:t>
            </a:r>
            <a:r>
              <a:rPr lang="fr-FR" dirty="0" smtClean="0"/>
              <a:t> (2), to analyse </a:t>
            </a:r>
            <a:r>
              <a:rPr lang="fr-FR" dirty="0" err="1" smtClean="0"/>
              <a:t>it</a:t>
            </a:r>
            <a:endParaRPr lang="fr-FR" dirty="0" smtClean="0"/>
          </a:p>
          <a:p>
            <a:pPr lvl="2"/>
            <a:r>
              <a:rPr lang="fr-FR" dirty="0" smtClean="0"/>
              <a:t>The B.I. Essentials </a:t>
            </a:r>
            <a:r>
              <a:rPr lang="fr-FR" dirty="0" err="1" smtClean="0"/>
              <a:t>Checker</a:t>
            </a:r>
            <a:r>
              <a:rPr lang="fr-FR" dirty="0" smtClean="0"/>
              <a:t> shows (3)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analyze</a:t>
            </a:r>
            <a:r>
              <a:rPr lang="fr-FR" dirty="0" smtClean="0"/>
              <a:t>.</a:t>
            </a:r>
          </a:p>
          <a:p>
            <a:pPr marL="284156" lvl="2" indent="0">
              <a:buNone/>
            </a:pPr>
            <a:endParaRPr lang="fr-FR" sz="1400" i="1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B.I. Essentials CHECKER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446534" y="3369199"/>
            <a:ext cx="1201002" cy="166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6010275" y="3667125"/>
            <a:ext cx="5423384" cy="23752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  <p:sp>
        <p:nvSpPr>
          <p:cNvPr id="13" name="Ellipse 12"/>
          <p:cNvSpPr/>
          <p:nvPr/>
        </p:nvSpPr>
        <p:spPr>
          <a:xfrm>
            <a:off x="3117577" y="3128296"/>
            <a:ext cx="319489" cy="27542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  <p:sp>
        <p:nvSpPr>
          <p:cNvPr id="14" name="Ellipse 13"/>
          <p:cNvSpPr/>
          <p:nvPr/>
        </p:nvSpPr>
        <p:spPr>
          <a:xfrm>
            <a:off x="8192275" y="3221598"/>
            <a:ext cx="319489" cy="27542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  <p:cxnSp>
        <p:nvCxnSpPr>
          <p:cNvPr id="16" name="Connecteur droit 15"/>
          <p:cNvCxnSpPr>
            <a:stCxn id="13" idx="6"/>
            <a:endCxn id="6" idx="1"/>
          </p:cNvCxnSpPr>
          <p:nvPr/>
        </p:nvCxnSpPr>
        <p:spPr>
          <a:xfrm>
            <a:off x="3437066" y="3266007"/>
            <a:ext cx="1009468" cy="1866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>
            <a:stCxn id="14" idx="5"/>
            <a:endCxn id="12" idx="0"/>
          </p:cNvCxnSpPr>
          <p:nvPr/>
        </p:nvCxnSpPr>
        <p:spPr>
          <a:xfrm>
            <a:off x="8464976" y="3456685"/>
            <a:ext cx="256991" cy="2104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3220415" y="3160223"/>
            <a:ext cx="113814" cy="292388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8295112" y="3243635"/>
            <a:ext cx="113814" cy="292388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</a:rPr>
              <a:t>3</a:t>
            </a:r>
            <a:endParaRPr lang="fr-FR" sz="1600" dirty="0" smtClean="0">
              <a:solidFill>
                <a:srgbClr val="FF0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68334" y="3536022"/>
            <a:ext cx="5379201" cy="4288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  <p:sp>
        <p:nvSpPr>
          <p:cNvPr id="38" name="Ellipse 37"/>
          <p:cNvSpPr/>
          <p:nvPr/>
        </p:nvSpPr>
        <p:spPr>
          <a:xfrm>
            <a:off x="4430401" y="4446808"/>
            <a:ext cx="319489" cy="27542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  <p:cxnSp>
        <p:nvCxnSpPr>
          <p:cNvPr id="39" name="Connecteur droit 38"/>
          <p:cNvCxnSpPr>
            <a:endCxn id="38" idx="2"/>
          </p:cNvCxnSpPr>
          <p:nvPr/>
        </p:nvCxnSpPr>
        <p:spPr>
          <a:xfrm>
            <a:off x="2957934" y="3964837"/>
            <a:ext cx="1472467" cy="619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/>
          <p:cNvSpPr txBox="1"/>
          <p:nvPr/>
        </p:nvSpPr>
        <p:spPr>
          <a:xfrm>
            <a:off x="4533238" y="4449351"/>
            <a:ext cx="113814" cy="292388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4058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9889540" cy="4689475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GB" dirty="0" smtClean="0"/>
              <a:t>To know where to place </a:t>
            </a:r>
            <a:r>
              <a:rPr lang="en-GB" dirty="0" err="1" smtClean="0"/>
              <a:t>BICusto.CATRsc</a:t>
            </a:r>
            <a:r>
              <a:rPr lang="en-GB" dirty="0" smtClean="0"/>
              <a:t> file use B.I. Essentials Checker</a:t>
            </a:r>
            <a:br>
              <a:rPr lang="en-GB" dirty="0" smtClean="0"/>
            </a:br>
            <a:r>
              <a:rPr lang="en-GB" dirty="0" smtClean="0"/>
              <a:t>(Open it and find it in the text, see </a:t>
            </a:r>
            <a:r>
              <a:rPr lang="en-US" dirty="0" smtClean="0">
                <a:hlinkClick r:id="rId2" action="ppaction://hlinksldjump"/>
              </a:rPr>
              <a:t>Where </a:t>
            </a:r>
            <a:r>
              <a:rPr lang="en-US" dirty="0" err="1">
                <a:hlinkClick r:id="rId2" action="ppaction://hlinksldjump"/>
              </a:rPr>
              <a:t>BICusto</a:t>
            </a:r>
            <a:r>
              <a:rPr lang="en-US" dirty="0">
                <a:hlinkClick r:id="rId2" action="ppaction://hlinksldjump"/>
              </a:rPr>
              <a:t> file is </a:t>
            </a:r>
            <a:r>
              <a:rPr lang="en-US" dirty="0" smtClean="0">
                <a:hlinkClick r:id="rId2" action="ppaction://hlinksldjump"/>
              </a:rPr>
              <a:t>searched slide</a:t>
            </a:r>
            <a:r>
              <a:rPr lang="en-US" dirty="0" smtClean="0"/>
              <a:t>)</a:t>
            </a:r>
            <a:endParaRPr lang="en-GB" dirty="0"/>
          </a:p>
          <a:p>
            <a:pPr lvl="1"/>
            <a:r>
              <a:rPr lang="fr-FR" dirty="0" smtClean="0"/>
              <a:t>To know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object</a:t>
            </a:r>
            <a:r>
              <a:rPr lang="fr-FR" dirty="0" smtClean="0"/>
              <a:t> type to </a:t>
            </a:r>
            <a:r>
              <a:rPr lang="fr-FR" dirty="0" err="1" smtClean="0"/>
              <a:t>define</a:t>
            </a:r>
            <a:r>
              <a:rPr lang="fr-FR" dirty="0" smtClean="0"/>
              <a:t> in </a:t>
            </a:r>
            <a:r>
              <a:rPr lang="fr-FR" dirty="0" err="1" smtClean="0"/>
              <a:t>TypeRuleAssociation</a:t>
            </a:r>
            <a:r>
              <a:rPr lang="fr-FR" dirty="0" smtClean="0"/>
              <a:t> </a:t>
            </a:r>
            <a:r>
              <a:rPr lang="fr-FR" dirty="0" err="1" smtClean="0"/>
              <a:t>resource</a:t>
            </a:r>
            <a:r>
              <a:rPr lang="fr-FR" dirty="0" smtClean="0"/>
              <a:t> file use B.I. Essentials </a:t>
            </a:r>
            <a:r>
              <a:rPr lang="fr-FR" dirty="0" err="1" smtClean="0"/>
              <a:t>Checker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(</a:t>
            </a:r>
            <a:r>
              <a:rPr lang="fr-FR" dirty="0" err="1" smtClean="0"/>
              <a:t>see</a:t>
            </a:r>
            <a:r>
              <a:rPr lang="fr-FR" dirty="0" smtClean="0"/>
              <a:t> (1) in </a:t>
            </a:r>
            <a:r>
              <a:rPr lang="en-US" dirty="0">
                <a:hlinkClick r:id="rId3" action="ppaction://hlinksldjump"/>
              </a:rPr>
              <a:t>Show </a:t>
            </a:r>
            <a:r>
              <a:rPr lang="en-US" dirty="0" err="1">
                <a:hlinkClick r:id="rId3" action="ppaction://hlinksldjump"/>
              </a:rPr>
              <a:t>accessibles</a:t>
            </a:r>
            <a:r>
              <a:rPr lang="en-US" dirty="0">
                <a:hlinkClick r:id="rId3" action="ppaction://hlinksldjump"/>
              </a:rPr>
              <a:t> </a:t>
            </a:r>
            <a:r>
              <a:rPr lang="en-US" dirty="0" smtClean="0">
                <a:hlinkClick r:id="rId3" action="ppaction://hlinksldjump"/>
              </a:rPr>
              <a:t>attributes slide</a:t>
            </a:r>
            <a:r>
              <a:rPr lang="en-US" dirty="0" smtClean="0"/>
              <a:t>)</a:t>
            </a:r>
            <a:endParaRPr lang="fr-FR" dirty="0" smtClean="0"/>
          </a:p>
          <a:p>
            <a:pPr lvl="1"/>
            <a:r>
              <a:rPr lang="fr-FR" dirty="0" smtClean="0"/>
              <a:t>To know </a:t>
            </a:r>
            <a:r>
              <a:rPr lang="fr-FR" dirty="0" err="1" smtClean="0"/>
              <a:t>what</a:t>
            </a:r>
            <a:r>
              <a:rPr lang="fr-FR" dirty="0" smtClean="0"/>
              <a:t> type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ThisObject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CATRule</a:t>
            </a:r>
            <a:r>
              <a:rPr lang="fr-FR" dirty="0" smtClean="0"/>
              <a:t>/EKL Script use EKL Trace</a:t>
            </a:r>
          </a:p>
          <a:p>
            <a:pPr lvl="2"/>
            <a:r>
              <a:rPr lang="fr-FR" dirty="0" smtClean="0"/>
              <a:t>Active EKL Trace,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Env</a:t>
            </a:r>
            <a:r>
              <a:rPr lang="fr-FR" dirty="0" smtClean="0"/>
              <a:t> file:</a:t>
            </a:r>
          </a:p>
          <a:p>
            <a:pPr lvl="3"/>
            <a:r>
              <a:rPr lang="fr-FR" dirty="0" smtClean="0"/>
              <a:t>Set CKE_CUSTO_TRACES to 1</a:t>
            </a:r>
          </a:p>
          <a:p>
            <a:pPr lvl="3"/>
            <a:r>
              <a:rPr lang="fr-FR" dirty="0" smtClean="0"/>
              <a:t>Set </a:t>
            </a:r>
            <a:r>
              <a:rPr lang="fr-FR" dirty="0" err="1" smtClean="0"/>
              <a:t>custoTrace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 </a:t>
            </a:r>
            <a:r>
              <a:rPr lang="fr-FR" dirty="0" err="1" smtClean="0"/>
              <a:t>path</a:t>
            </a:r>
            <a:r>
              <a:rPr lang="fr-FR" dirty="0" smtClean="0"/>
              <a:t> for </a:t>
            </a:r>
            <a:r>
              <a:rPr lang="fr-FR" dirty="0" err="1" smtClean="0"/>
              <a:t>ekl</a:t>
            </a:r>
            <a:r>
              <a:rPr lang="fr-FR" dirty="0" smtClean="0"/>
              <a:t> trace</a:t>
            </a:r>
          </a:p>
          <a:p>
            <a:pPr lvl="2"/>
            <a:r>
              <a:rPr lang="fr-FR" dirty="0" err="1" smtClean="0"/>
              <a:t>Add</a:t>
            </a:r>
            <a:r>
              <a:rPr lang="fr-FR" dirty="0" smtClean="0"/>
              <a:t> a trace in </a:t>
            </a:r>
            <a:r>
              <a:rPr lang="fr-FR" dirty="0" err="1" smtClean="0"/>
              <a:t>your</a:t>
            </a:r>
            <a:r>
              <a:rPr lang="fr-FR" dirty="0" smtClean="0"/>
              <a:t> code </a:t>
            </a:r>
            <a:r>
              <a:rPr lang="fr-FR" dirty="0" err="1" smtClean="0"/>
              <a:t>with</a:t>
            </a:r>
            <a:r>
              <a:rPr lang="fr-FR" dirty="0" smtClean="0"/>
              <a:t>, ex:</a:t>
            </a:r>
            <a:r>
              <a:rPr lang="en-US" dirty="0" smtClean="0"/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Trace(1,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"--&gt;Type= "+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ThisObject.ModelerType.Name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2"/>
            <a:r>
              <a:rPr lang="en-US" dirty="0" smtClean="0"/>
              <a:t>See the trace in TraceEKL.txt in previously defined path</a:t>
            </a:r>
          </a:p>
          <a:p>
            <a:pPr lvl="1"/>
            <a:r>
              <a:rPr lang="en-US" dirty="0" smtClean="0"/>
              <a:t>Develop the most of your </a:t>
            </a:r>
            <a:r>
              <a:rPr lang="en-US" dirty="0" err="1" smtClean="0"/>
              <a:t>algo</a:t>
            </a:r>
            <a:r>
              <a:rPr lang="en-US" dirty="0" smtClean="0"/>
              <a:t> in an action in 3DExperience, so you benefit of EKL Editor with syntax check, </a:t>
            </a:r>
            <a:r>
              <a:rPr lang="en-US" dirty="0" err="1" smtClean="0"/>
              <a:t>autocompletion</a:t>
            </a:r>
            <a:r>
              <a:rPr lang="en-US" dirty="0" smtClean="0"/>
              <a:t> and language browser.</a:t>
            </a:r>
            <a:br>
              <a:rPr lang="en-US" dirty="0" smtClean="0"/>
            </a:br>
            <a:r>
              <a:rPr lang="en-US" dirty="0" smtClean="0"/>
              <a:t>(Note: Parameters </a:t>
            </a:r>
            <a:r>
              <a:rPr lang="en-US" dirty="0" smtClean="0"/>
              <a:t>object does </a:t>
            </a:r>
            <a:r>
              <a:rPr lang="en-US" dirty="0" smtClean="0"/>
              <a:t>not available in action but is the last line you should be write in your </a:t>
            </a:r>
            <a:r>
              <a:rPr lang="en-US" dirty="0" err="1" smtClean="0"/>
              <a:t>CATRule</a:t>
            </a:r>
            <a:r>
              <a:rPr lang="en-US" dirty="0" smtClean="0"/>
              <a:t>)</a:t>
            </a:r>
            <a:endParaRPr lang="fr-FR" dirty="0"/>
          </a:p>
          <a:p>
            <a:pPr marL="55562" lvl="1" indent="0">
              <a:buNone/>
            </a:pPr>
            <a:endParaRPr lang="en-GB" dirty="0"/>
          </a:p>
          <a:p>
            <a:pPr lvl="1"/>
            <a:endParaRPr lang="en-GB" dirty="0" smtClean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TIPS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93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/>
        <p:txBody>
          <a:bodyPr>
            <a:normAutofit/>
          </a:bodyPr>
          <a:lstStyle/>
          <a:p>
            <a:pPr lvl="1"/>
            <a:r>
              <a:rPr lang="en-GB" dirty="0" smtClean="0"/>
              <a:t>Create (or update) </a:t>
            </a:r>
            <a:r>
              <a:rPr lang="en-GB" dirty="0" err="1" smtClean="0"/>
              <a:t>BICusto.CATRsc</a:t>
            </a:r>
            <a:endParaRPr lang="en-GB" dirty="0"/>
          </a:p>
          <a:p>
            <a:pPr lvl="2"/>
            <a:r>
              <a:rPr lang="en-GB" dirty="0" smtClean="0"/>
              <a:t>In resources\</a:t>
            </a:r>
            <a:r>
              <a:rPr lang="en-GB" dirty="0" err="1" smtClean="0"/>
              <a:t>plmcompass</a:t>
            </a:r>
            <a:r>
              <a:rPr lang="en-GB" dirty="0" smtClean="0"/>
              <a:t>\ (</a:t>
            </a:r>
            <a:r>
              <a:rPr lang="en-GB" dirty="0" err="1" smtClean="0"/>
              <a:t>ProviderX</a:t>
            </a:r>
            <a:r>
              <a:rPr lang="en-GB" dirty="0" smtClean="0"/>
              <a:t>\</a:t>
            </a:r>
            <a:r>
              <a:rPr lang="en-GB" dirty="0" err="1" smtClean="0"/>
              <a:t>RuleX</a:t>
            </a:r>
            <a:r>
              <a:rPr lang="en-GB" dirty="0" smtClean="0"/>
              <a:t>).</a:t>
            </a:r>
          </a:p>
          <a:p>
            <a:pPr lvl="2"/>
            <a:r>
              <a:rPr lang="en-GB" dirty="0" smtClean="0"/>
              <a:t>&lt;BI ID&gt;.Scope="ALL"</a:t>
            </a:r>
            <a:endParaRPr lang="en-GB" dirty="0"/>
          </a:p>
          <a:p>
            <a:pPr lvl="1"/>
            <a:r>
              <a:rPr lang="en-GB" dirty="0" smtClean="0"/>
              <a:t>Create Resource files.</a:t>
            </a:r>
            <a:endParaRPr lang="en-GB" dirty="0"/>
          </a:p>
          <a:p>
            <a:pPr lvl="2"/>
            <a:r>
              <a:rPr lang="en-GB" dirty="0" smtClean="0"/>
              <a:t>In resources\</a:t>
            </a:r>
            <a:r>
              <a:rPr lang="en-GB" dirty="0" err="1" smtClean="0"/>
              <a:t>plmcompass</a:t>
            </a:r>
            <a:r>
              <a:rPr lang="en-GB" dirty="0" smtClean="0"/>
              <a:t>\</a:t>
            </a:r>
            <a:r>
              <a:rPr lang="en-GB" dirty="0" err="1" smtClean="0"/>
              <a:t>ProviderX</a:t>
            </a:r>
            <a:r>
              <a:rPr lang="en-GB" dirty="0" smtClean="0"/>
              <a:t>\VPM (or </a:t>
            </a:r>
            <a:r>
              <a:rPr lang="en-GB" dirty="0" err="1" smtClean="0"/>
              <a:t>RuleX</a:t>
            </a:r>
            <a:r>
              <a:rPr lang="en-GB" dirty="0" smtClean="0"/>
              <a:t>) </a:t>
            </a:r>
            <a:endParaRPr lang="en-GB" dirty="0"/>
          </a:p>
          <a:p>
            <a:pPr lvl="2"/>
            <a:r>
              <a:rPr lang="en-GB" dirty="0" smtClean="0"/>
              <a:t>&lt;BIID&gt;.</a:t>
            </a:r>
            <a:r>
              <a:rPr lang="en-GB" dirty="0" err="1" smtClean="0"/>
              <a:t>CATRsc</a:t>
            </a:r>
            <a:r>
              <a:rPr lang="en-GB" dirty="0" smtClean="0"/>
              <a:t>, &lt;</a:t>
            </a:r>
            <a:r>
              <a:rPr lang="en-GB" dirty="0" err="1" smtClean="0"/>
              <a:t>ColorsDefinitionFile</a:t>
            </a:r>
            <a:r>
              <a:rPr lang="en-GB" dirty="0" smtClean="0"/>
              <a:t>&gt;.</a:t>
            </a:r>
            <a:r>
              <a:rPr lang="en-GB" dirty="0" err="1" smtClean="0"/>
              <a:t>CATRsc</a:t>
            </a:r>
            <a:r>
              <a:rPr lang="en-GB" dirty="0" smtClean="0"/>
              <a:t>, &lt;</a:t>
            </a:r>
            <a:r>
              <a:rPr lang="en-GB" dirty="0" err="1" smtClean="0"/>
              <a:t>TypeRuleDefinitionFile</a:t>
            </a:r>
            <a:r>
              <a:rPr lang="en-GB" dirty="0" smtClean="0"/>
              <a:t>&gt;.</a:t>
            </a:r>
            <a:r>
              <a:rPr lang="en-GB" dirty="0" err="1" smtClean="0"/>
              <a:t>CATRsc</a:t>
            </a:r>
            <a:endParaRPr lang="en-GB" dirty="0" smtClean="0"/>
          </a:p>
          <a:p>
            <a:pPr lvl="1"/>
            <a:r>
              <a:rPr lang="fr-FR" dirty="0" err="1" smtClean="0"/>
              <a:t>Create</a:t>
            </a:r>
            <a:r>
              <a:rPr lang="fr-FR" dirty="0" smtClean="0"/>
              <a:t> Translate file.</a:t>
            </a:r>
          </a:p>
          <a:p>
            <a:pPr lvl="2"/>
            <a:r>
              <a:rPr lang="fr-FR" dirty="0" smtClean="0"/>
              <a:t>In </a:t>
            </a:r>
            <a:r>
              <a:rPr lang="fr-FR" dirty="0" err="1" smtClean="0"/>
              <a:t>resources</a:t>
            </a:r>
            <a:r>
              <a:rPr lang="fr-FR" dirty="0" smtClean="0"/>
              <a:t>\</a:t>
            </a:r>
            <a:r>
              <a:rPr lang="fr-FR" dirty="0" err="1" smtClean="0"/>
              <a:t>msgcatalog</a:t>
            </a:r>
            <a:endParaRPr lang="fr-FR" dirty="0" smtClean="0"/>
          </a:p>
          <a:p>
            <a:pPr lvl="1"/>
            <a:r>
              <a:rPr lang="fr-FR" dirty="0" err="1" smtClean="0"/>
              <a:t>Create</a:t>
            </a:r>
            <a:r>
              <a:rPr lang="fr-FR" dirty="0" smtClean="0"/>
              <a:t> all </a:t>
            </a:r>
            <a:r>
              <a:rPr lang="fr-FR" dirty="0" err="1" smtClean="0"/>
              <a:t>CATRule</a:t>
            </a:r>
            <a:r>
              <a:rPr lang="fr-FR" dirty="0" smtClean="0"/>
              <a:t> file (</a:t>
            </a:r>
            <a:r>
              <a:rPr lang="fr-FR" dirty="0" err="1" smtClean="0"/>
              <a:t>which</a:t>
            </a:r>
            <a:r>
              <a:rPr lang="fr-FR" dirty="0" smtClean="0"/>
              <a:t> </a:t>
            </a:r>
            <a:r>
              <a:rPr lang="fr-FR" dirty="0" err="1" smtClean="0"/>
              <a:t>described</a:t>
            </a:r>
            <a:r>
              <a:rPr lang="fr-FR" dirty="0" smtClean="0"/>
              <a:t> in </a:t>
            </a:r>
            <a:r>
              <a:rPr lang="fr-FR" dirty="0" err="1" smtClean="0"/>
              <a:t>TypeRuleDefinition</a:t>
            </a:r>
            <a:r>
              <a:rPr lang="fr-FR" dirty="0" smtClean="0"/>
              <a:t> file)</a:t>
            </a:r>
            <a:endParaRPr lang="en-GB" dirty="0"/>
          </a:p>
          <a:p>
            <a:pPr lvl="1"/>
            <a:endParaRPr lang="en-GB" dirty="0" smtClean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 Short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88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/>
        <p:txBody>
          <a:bodyPr>
            <a:normAutofit/>
          </a:bodyPr>
          <a:lstStyle/>
          <a:p>
            <a:pPr lvl="1"/>
            <a:r>
              <a:rPr lang="en-GB" dirty="0" err="1" smtClean="0"/>
              <a:t>B.I.Essentials</a:t>
            </a:r>
            <a:r>
              <a:rPr lang="en-GB" dirty="0" smtClean="0"/>
              <a:t> can be "simply" customized.</a:t>
            </a:r>
            <a:endParaRPr lang="en-GB" dirty="0"/>
          </a:p>
          <a:p>
            <a:pPr lvl="2"/>
            <a:r>
              <a:rPr lang="en-GB" dirty="0" smtClean="0"/>
              <a:t>Few resource files, EKL scripts.</a:t>
            </a:r>
            <a:endParaRPr lang="en-GB" dirty="0"/>
          </a:p>
          <a:p>
            <a:pPr lvl="1"/>
            <a:r>
              <a:rPr lang="en-GB" dirty="0" smtClean="0"/>
              <a:t>B.I. Essentials Checker can help.</a:t>
            </a:r>
            <a:endParaRPr lang="en-GB" dirty="0"/>
          </a:p>
          <a:p>
            <a:pPr lvl="2"/>
            <a:r>
              <a:rPr lang="en-GB" dirty="0" smtClean="0"/>
              <a:t>Where </a:t>
            </a:r>
            <a:r>
              <a:rPr lang="en-GB" dirty="0" err="1" smtClean="0"/>
              <a:t>BICusto.CATRsc</a:t>
            </a:r>
            <a:r>
              <a:rPr lang="en-GB" dirty="0" smtClean="0"/>
              <a:t> file is searched </a:t>
            </a:r>
            <a:endParaRPr lang="en-GB" dirty="0"/>
          </a:p>
          <a:p>
            <a:pPr lvl="2"/>
            <a:r>
              <a:rPr lang="en-GB" dirty="0" smtClean="0"/>
              <a:t>Reload </a:t>
            </a:r>
            <a:r>
              <a:rPr lang="en-GB" dirty="0" err="1" smtClean="0"/>
              <a:t>Custo</a:t>
            </a:r>
            <a:r>
              <a:rPr lang="en-GB" dirty="0" smtClean="0"/>
              <a:t> Definition (Sometimes does not work)</a:t>
            </a:r>
            <a:endParaRPr lang="en-GB" dirty="0"/>
          </a:p>
          <a:p>
            <a:pPr lvl="2"/>
            <a:r>
              <a:rPr lang="en-GB" dirty="0" smtClean="0"/>
              <a:t>BI Analyse</a:t>
            </a:r>
          </a:p>
          <a:p>
            <a:pPr lvl="2"/>
            <a:r>
              <a:rPr lang="en-GB" dirty="0" smtClean="0"/>
              <a:t>Show syntax errors</a:t>
            </a:r>
            <a:endParaRPr lang="en-GB" dirty="0"/>
          </a:p>
          <a:p>
            <a:pPr lvl="1"/>
            <a:r>
              <a:rPr lang="en-GB" dirty="0" smtClean="0"/>
              <a:t>Do not </a:t>
            </a:r>
            <a:r>
              <a:rPr lang="fr-FR" dirty="0" err="1" smtClean="0"/>
              <a:t>hesitate</a:t>
            </a:r>
            <a:r>
              <a:rPr lang="fr-FR" dirty="0" smtClean="0"/>
              <a:t> to u</a:t>
            </a:r>
            <a:r>
              <a:rPr lang="en-GB" dirty="0" smtClean="0"/>
              <a:t>se EKL Trace to debug</a:t>
            </a:r>
            <a:endParaRPr lang="en-GB" dirty="0"/>
          </a:p>
          <a:p>
            <a:pPr lvl="1"/>
            <a:endParaRPr lang="en-GB" dirty="0" smtClean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1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73686" y="980239"/>
            <a:ext cx="8572500" cy="4689475"/>
          </a:xfrm>
        </p:spPr>
        <p:txBody>
          <a:bodyPr>
            <a:normAutofit/>
          </a:bodyPr>
          <a:lstStyle/>
          <a:p>
            <a:r>
              <a:rPr lang="en-US" dirty="0" smtClean="0"/>
              <a:t>Online Documentation</a:t>
            </a:r>
          </a:p>
          <a:p>
            <a:pPr lvl="1"/>
            <a:endParaRPr lang="en-GB" dirty="0" smtClean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Going further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204" y="1715367"/>
            <a:ext cx="10061512" cy="4144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19379" y="3847795"/>
            <a:ext cx="2172615" cy="1550823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600" dirty="0" smtClean="0"/>
          </a:p>
        </p:txBody>
      </p:sp>
    </p:spTree>
    <p:extLst>
      <p:ext uri="{BB962C8B-B14F-4D97-AF65-F5344CB8AC3E}">
        <p14:creationId xmlns:p14="http://schemas.microsoft.com/office/powerpoint/2010/main" val="321167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s">
  <a:themeElements>
    <a:clrScheme name="CG&amp;S LITN 2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0071FC"/>
      </a:accent1>
      <a:accent2>
        <a:srgbClr val="000088"/>
      </a:accent2>
      <a:accent3>
        <a:srgbClr val="284B96"/>
      </a:accent3>
      <a:accent4>
        <a:srgbClr val="207EA1"/>
      </a:accent4>
      <a:accent5>
        <a:srgbClr val="1DB1AC"/>
      </a:accent5>
      <a:accent6>
        <a:srgbClr val="1EE5B8"/>
      </a:accent6>
      <a:hlink>
        <a:srgbClr val="0071FC"/>
      </a:hlink>
      <a:folHlink>
        <a:srgbClr val="0071FC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Acc_LITN_Template_Graphik_v02_170310.potx" id="{0E6E30B2-FBC0-40BD-B639-8F9C566D60BF}" vid="{2F51ECDC-66AB-42E8-AE9A-B65EB96B7CB8}"/>
    </a:ext>
  </a:extLst>
</a:theme>
</file>

<file path=ppt/theme/theme2.xml><?xml version="1.0" encoding="utf-8"?>
<a:theme xmlns:a="http://schemas.openxmlformats.org/drawingml/2006/main" name="Content Layouts">
  <a:themeElements>
    <a:clrScheme name="CG&amp;S LITN 2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0071FC"/>
      </a:accent1>
      <a:accent2>
        <a:srgbClr val="000088"/>
      </a:accent2>
      <a:accent3>
        <a:srgbClr val="284B96"/>
      </a:accent3>
      <a:accent4>
        <a:srgbClr val="207EA1"/>
      </a:accent4>
      <a:accent5>
        <a:srgbClr val="1DB1AC"/>
      </a:accent5>
      <a:accent6>
        <a:srgbClr val="1EE5B8"/>
      </a:accent6>
      <a:hlink>
        <a:srgbClr val="0071FC"/>
      </a:hlink>
      <a:folHlink>
        <a:srgbClr val="0071FC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Acc_LITN_Template_Graphik_v02_170310.potx" id="{0E6E30B2-FBC0-40BD-B639-8F9C566D60BF}" vid="{8D09D82B-6C89-4DA0-8C3C-A921967394F9}"/>
    </a:ext>
  </a:extLst>
</a:theme>
</file>

<file path=ppt/theme/theme3.xml><?xml version="1.0" encoding="utf-8"?>
<a:theme xmlns:a="http://schemas.openxmlformats.org/drawingml/2006/main" name="Section Dividers">
  <a:themeElements>
    <a:clrScheme name="CG&amp;S LITN 2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0071FC"/>
      </a:accent1>
      <a:accent2>
        <a:srgbClr val="000088"/>
      </a:accent2>
      <a:accent3>
        <a:srgbClr val="284B96"/>
      </a:accent3>
      <a:accent4>
        <a:srgbClr val="207EA1"/>
      </a:accent4>
      <a:accent5>
        <a:srgbClr val="1DB1AC"/>
      </a:accent5>
      <a:accent6>
        <a:srgbClr val="1EE5B8"/>
      </a:accent6>
      <a:hlink>
        <a:srgbClr val="0071FC"/>
      </a:hlink>
      <a:folHlink>
        <a:srgbClr val="0071FC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Acc_LITN_Template_Graphik_v02_170310.potx" id="{0E6E30B2-FBC0-40BD-B639-8F9C566D60BF}" vid="{48E8ED87-6414-488D-9141-EB173867F3D4}"/>
    </a:ext>
  </a:extLst>
</a:theme>
</file>

<file path=ppt/theme/theme4.xml><?xml version="1.0" encoding="utf-8"?>
<a:theme xmlns:a="http://schemas.openxmlformats.org/drawingml/2006/main" name="Specialty Slides">
  <a:themeElements>
    <a:clrScheme name="CG&amp;S LITN 2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0071FC"/>
      </a:accent1>
      <a:accent2>
        <a:srgbClr val="000088"/>
      </a:accent2>
      <a:accent3>
        <a:srgbClr val="284B96"/>
      </a:accent3>
      <a:accent4>
        <a:srgbClr val="207EA1"/>
      </a:accent4>
      <a:accent5>
        <a:srgbClr val="1DB1AC"/>
      </a:accent5>
      <a:accent6>
        <a:srgbClr val="1EE5B8"/>
      </a:accent6>
      <a:hlink>
        <a:srgbClr val="0071FC"/>
      </a:hlink>
      <a:folHlink>
        <a:srgbClr val="0071FC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Acc_LITN_Template_Graphik_v02_170310.potx" id="{0E6E30B2-FBC0-40BD-B639-8F9C566D60BF}" vid="{561DC382-1AB4-4A55-A791-FE0B16D3E99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E3649350DF0247A7D75AFA237466E4" ma:contentTypeVersion="12" ma:contentTypeDescription="Create a new document." ma:contentTypeScope="" ma:versionID="1df3ca286eb2acdbafde6cd487c78dc9">
  <xsd:schema xmlns:xsd="http://www.w3.org/2001/XMLSchema" xmlns:xs="http://www.w3.org/2001/XMLSchema" xmlns:p="http://schemas.microsoft.com/office/2006/metadata/properties" xmlns:ns2="3316777e-91d6-4196-a77c-83e03e1a3b0f" xmlns:ns3="f87a7dc6-3100-4522-9457-6d88f2d2aaae" targetNamespace="http://schemas.microsoft.com/office/2006/metadata/properties" ma:root="true" ma:fieldsID="b4aa377de1aab9b9d556f259e5c58c69" ns2:_="" ns3:_="">
    <xsd:import namespace="3316777e-91d6-4196-a77c-83e03e1a3b0f"/>
    <xsd:import namespace="f87a7dc6-3100-4522-9457-6d88f2d2aaa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16777e-91d6-4196-a77c-83e03e1a3b0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a7dc6-3100-4522-9457-6d88f2d2aa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F907F7-A001-4207-8FB9-489F788766B5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f87a7dc6-3100-4522-9457-6d88f2d2aaae"/>
    <ds:schemaRef ds:uri="3316777e-91d6-4196-a77c-83e03e1a3b0f"/>
  </ds:schemaRefs>
</ds:datastoreItem>
</file>

<file path=customXml/itemProps2.xml><?xml version="1.0" encoding="utf-8"?>
<ds:datastoreItem xmlns:ds="http://schemas.openxmlformats.org/officeDocument/2006/customXml" ds:itemID="{D5B19638-A3EF-4B40-8A4E-F5DFA1CE30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16777e-91d6-4196-a77c-83e03e1a3b0f"/>
    <ds:schemaRef ds:uri="f87a7dc6-3100-4522-9457-6d88f2d2aa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CCA248-73BA-45C1-B6D5-CF3DBFAAF7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Acc_LITN_Template_Graphik_v03_170310</Template>
  <TotalTime>0</TotalTime>
  <Words>1579</Words>
  <Application>Microsoft Office PowerPoint</Application>
  <PresentationFormat>Personnalisé</PresentationFormat>
  <Paragraphs>229</Paragraphs>
  <Slides>23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4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Titles</vt:lpstr>
      <vt:lpstr>Content Layouts</vt:lpstr>
      <vt:lpstr>Section Dividers</vt:lpstr>
      <vt:lpstr>Specialty Slides</vt:lpstr>
      <vt:lpstr>Overview / Objectives / Description</vt:lpstr>
      <vt:lpstr>Agenda</vt:lpstr>
      <vt:lpstr>How to Use B.I. Essentials</vt:lpstr>
      <vt:lpstr>How to Use B.I. Essentials</vt:lpstr>
      <vt:lpstr>How to Use B.I. Essentials</vt:lpstr>
      <vt:lpstr>How to Customize B.I. Essentials</vt:lpstr>
      <vt:lpstr>How to Customize B.I. Essentials</vt:lpstr>
      <vt:lpstr>How to Customize B.I. Essentials</vt:lpstr>
      <vt:lpstr>How to Customize B.I. Essentials</vt:lpstr>
      <vt:lpstr>How to Customize B.I. Essentials</vt:lpstr>
      <vt:lpstr>How to Customize B.I. Essentials</vt:lpstr>
      <vt:lpstr>How to Customize B.I. Essentials</vt:lpstr>
      <vt:lpstr>How to Customize B.I. Essentials</vt:lpstr>
      <vt:lpstr>How to Customize B.I. Essentials</vt:lpstr>
      <vt:lpstr>B.I. Essentials CHECKER</vt:lpstr>
      <vt:lpstr>B.I. Essentials CHECKER</vt:lpstr>
      <vt:lpstr>B.I. Essentials CHECKER</vt:lpstr>
      <vt:lpstr>B.I. Essentials CHECKER</vt:lpstr>
      <vt:lpstr>B.I. Essentials CHECKER</vt:lpstr>
      <vt:lpstr>TIPS</vt:lpstr>
      <vt:lpstr>In Short</vt:lpstr>
      <vt:lpstr>Summary</vt:lpstr>
      <vt:lpstr>Going further</vt:lpstr>
    </vt:vector>
  </TitlesOfParts>
  <Company>Accenture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our new template</dc:title>
  <dc:creator>Harrigan, Gwen M.</dc:creator>
  <cp:lastModifiedBy>CAMPION, Ludovic (ACCENTURE SAS)</cp:lastModifiedBy>
  <cp:revision>189</cp:revision>
  <dcterms:created xsi:type="dcterms:W3CDTF">2017-03-16T13:40:21Z</dcterms:created>
  <dcterms:modified xsi:type="dcterms:W3CDTF">2018-04-06T14:22:41Z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1338342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D7.1.5</vt:lpwstr>
  </property>
  <property fmtid="{D5CDD505-2E9C-101B-9397-08002B2CF9AE}" pid="5" name="ContentTypeId">
    <vt:lpwstr>0x010100A6E3649350DF0247A7D75AFA237466E4</vt:lpwstr>
  </property>
</Properties>
</file>